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3" d="100"/>
          <a:sy n="33" d="100"/>
        </p:scale>
        <p:origin x="91" y="7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1800" y="6944783"/>
            <a:ext cx="7497445" cy="0"/>
          </a:xfrm>
          <a:custGeom>
            <a:avLst/>
            <a:gdLst/>
            <a:ahLst/>
            <a:cxnLst/>
            <a:rect l="l" t="t" r="r" b="b"/>
            <a:pathLst>
              <a:path w="7497444">
                <a:moveTo>
                  <a:pt x="0" y="0"/>
                </a:moveTo>
                <a:lnTo>
                  <a:pt x="7497233" y="0"/>
                </a:lnTo>
              </a:path>
            </a:pathLst>
          </a:custGeom>
          <a:ln w="29633">
            <a:solidFill>
              <a:srgbClr val="3B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372600" y="6360583"/>
            <a:ext cx="7433945" cy="0"/>
          </a:xfrm>
          <a:custGeom>
            <a:avLst/>
            <a:gdLst/>
            <a:ahLst/>
            <a:cxnLst/>
            <a:rect l="l" t="t" r="r" b="b"/>
            <a:pathLst>
              <a:path w="7433944">
                <a:moveTo>
                  <a:pt x="0" y="0"/>
                </a:moveTo>
                <a:lnTo>
                  <a:pt x="7433733" y="0"/>
                </a:lnTo>
              </a:path>
            </a:pathLst>
          </a:custGeom>
          <a:ln w="29633">
            <a:solidFill>
              <a:srgbClr val="3B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4400" y="2692400"/>
            <a:ext cx="546100" cy="6858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0900" y="3835400"/>
            <a:ext cx="673100" cy="6731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6300" y="5181600"/>
            <a:ext cx="635000" cy="584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27037" y="2420761"/>
            <a:ext cx="7257415" cy="495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00" y="7442200"/>
            <a:ext cx="1054100" cy="431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00" y="1905000"/>
            <a:ext cx="16167100" cy="3810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2200" y="698500"/>
            <a:ext cx="38100" cy="127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42800" y="698500"/>
            <a:ext cx="38100" cy="12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0664" y="362136"/>
            <a:ext cx="14647544" cy="1748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85456" y="4452055"/>
            <a:ext cx="7356475" cy="255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11" Type="http://schemas.openxmlformats.org/officeDocument/2006/relationships/image" Target="../media/image17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7416800"/>
            <a:ext cx="6718300" cy="1739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1700" y="5092700"/>
            <a:ext cx="965200" cy="711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17200" y="5080000"/>
            <a:ext cx="469900" cy="368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96300" y="3467100"/>
            <a:ext cx="2590800" cy="12319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1074400" y="5080000"/>
            <a:ext cx="1714500" cy="2095500"/>
            <a:chOff x="11074400" y="5080000"/>
            <a:chExt cx="1714500" cy="209550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74400" y="5080000"/>
              <a:ext cx="596900" cy="838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09400" y="5956300"/>
              <a:ext cx="1079500" cy="121920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1074400" y="2933700"/>
            <a:ext cx="1803400" cy="1765300"/>
            <a:chOff x="11074400" y="2933700"/>
            <a:chExt cx="1803400" cy="176530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74400" y="3771900"/>
              <a:ext cx="596900" cy="9271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58600" y="2933700"/>
              <a:ext cx="1219200" cy="88900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2814300" y="1091989"/>
            <a:ext cx="4660900" cy="7670800"/>
            <a:chOff x="12814300" y="609600"/>
            <a:chExt cx="4660900" cy="767080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14300" y="1803400"/>
              <a:ext cx="596900" cy="1066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398500" y="609600"/>
              <a:ext cx="4076700" cy="7670800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8333316" y="3500966"/>
            <a:ext cx="0" cy="2734945"/>
          </a:xfrm>
          <a:custGeom>
            <a:avLst/>
            <a:gdLst/>
            <a:ahLst/>
            <a:cxnLst/>
            <a:rect l="l" t="t" r="r" b="b"/>
            <a:pathLst>
              <a:path h="2734945">
                <a:moveTo>
                  <a:pt x="0" y="27347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466916" y="3577166"/>
            <a:ext cx="0" cy="5554345"/>
          </a:xfrm>
          <a:custGeom>
            <a:avLst/>
            <a:gdLst/>
            <a:ahLst/>
            <a:cxnLst/>
            <a:rect l="l" t="t" r="r" b="b"/>
            <a:pathLst>
              <a:path h="5554345">
                <a:moveTo>
                  <a:pt x="0" y="55541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076516" y="605367"/>
            <a:ext cx="0" cy="8526145"/>
          </a:xfrm>
          <a:custGeom>
            <a:avLst/>
            <a:gdLst/>
            <a:ahLst/>
            <a:cxnLst/>
            <a:rect l="l" t="t" r="r" b="b"/>
            <a:pathLst>
              <a:path h="8526145">
                <a:moveTo>
                  <a:pt x="0" y="85259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660716" y="3018367"/>
            <a:ext cx="0" cy="6113145"/>
          </a:xfrm>
          <a:custGeom>
            <a:avLst/>
            <a:gdLst/>
            <a:ahLst/>
            <a:cxnLst/>
            <a:rect l="l" t="t" r="r" b="b"/>
            <a:pathLst>
              <a:path h="6113145">
                <a:moveTo>
                  <a:pt x="0" y="61129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829116" y="4212166"/>
            <a:ext cx="0" cy="4919345"/>
          </a:xfrm>
          <a:custGeom>
            <a:avLst/>
            <a:gdLst/>
            <a:ahLst/>
            <a:cxnLst/>
            <a:rect l="l" t="t" r="r" b="b"/>
            <a:pathLst>
              <a:path h="4919345">
                <a:moveTo>
                  <a:pt x="0" y="49191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400616" y="605367"/>
            <a:ext cx="0" cy="8526145"/>
          </a:xfrm>
          <a:custGeom>
            <a:avLst/>
            <a:gdLst/>
            <a:ahLst/>
            <a:cxnLst/>
            <a:rect l="l" t="t" r="r" b="b"/>
            <a:pathLst>
              <a:path h="8526145">
                <a:moveTo>
                  <a:pt x="0" y="85259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984816" y="833967"/>
            <a:ext cx="0" cy="3230245"/>
          </a:xfrm>
          <a:custGeom>
            <a:avLst/>
            <a:gdLst/>
            <a:ahLst/>
            <a:cxnLst/>
            <a:rect l="l" t="t" r="r" b="b"/>
            <a:pathLst>
              <a:path h="3230245">
                <a:moveTo>
                  <a:pt x="0" y="32300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984816" y="5672666"/>
            <a:ext cx="0" cy="3458845"/>
          </a:xfrm>
          <a:custGeom>
            <a:avLst/>
            <a:gdLst/>
            <a:ahLst/>
            <a:cxnLst/>
            <a:rect l="l" t="t" r="r" b="b"/>
            <a:pathLst>
              <a:path h="3458845">
                <a:moveTo>
                  <a:pt x="0" y="34586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569016" y="605367"/>
            <a:ext cx="0" cy="4170045"/>
          </a:xfrm>
          <a:custGeom>
            <a:avLst/>
            <a:gdLst/>
            <a:ahLst/>
            <a:cxnLst/>
            <a:rect l="l" t="t" r="r" b="b"/>
            <a:pathLst>
              <a:path h="4170045">
                <a:moveTo>
                  <a:pt x="0" y="41698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581716" y="6180666"/>
            <a:ext cx="0" cy="2950845"/>
          </a:xfrm>
          <a:custGeom>
            <a:avLst/>
            <a:gdLst/>
            <a:ahLst/>
            <a:cxnLst/>
            <a:rect l="l" t="t" r="r" b="b"/>
            <a:pathLst>
              <a:path h="2950845">
                <a:moveTo>
                  <a:pt x="0" y="29506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283516" y="5367866"/>
            <a:ext cx="0" cy="3814445"/>
          </a:xfrm>
          <a:custGeom>
            <a:avLst/>
            <a:gdLst/>
            <a:ahLst/>
            <a:cxnLst/>
            <a:rect l="l" t="t" r="r" b="b"/>
            <a:pathLst>
              <a:path h="3814445">
                <a:moveTo>
                  <a:pt x="0" y="38142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321616" y="2002367"/>
            <a:ext cx="0" cy="2709545"/>
          </a:xfrm>
          <a:custGeom>
            <a:avLst/>
            <a:gdLst/>
            <a:ahLst/>
            <a:cxnLst/>
            <a:rect l="l" t="t" r="r" b="b"/>
            <a:pathLst>
              <a:path h="2709545">
                <a:moveTo>
                  <a:pt x="0" y="27093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448616" y="3069167"/>
            <a:ext cx="0" cy="2785745"/>
          </a:xfrm>
          <a:custGeom>
            <a:avLst/>
            <a:gdLst/>
            <a:ahLst/>
            <a:cxnLst/>
            <a:rect l="l" t="t" r="r" b="b"/>
            <a:pathLst>
              <a:path h="2785745">
                <a:moveTo>
                  <a:pt x="0" y="27855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702616" y="3018367"/>
            <a:ext cx="0" cy="3484245"/>
          </a:xfrm>
          <a:custGeom>
            <a:avLst/>
            <a:gdLst/>
            <a:ahLst/>
            <a:cxnLst/>
            <a:rect l="l" t="t" r="r" b="b"/>
            <a:pathLst>
              <a:path h="3484245">
                <a:moveTo>
                  <a:pt x="0" y="34840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842316" y="2256367"/>
            <a:ext cx="0" cy="4055745"/>
          </a:xfrm>
          <a:custGeom>
            <a:avLst/>
            <a:gdLst/>
            <a:ahLst/>
            <a:cxnLst/>
            <a:rect l="l" t="t" r="r" b="b"/>
            <a:pathLst>
              <a:path h="4055745">
                <a:moveTo>
                  <a:pt x="0" y="40555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893116" y="605367"/>
            <a:ext cx="0" cy="5694045"/>
          </a:xfrm>
          <a:custGeom>
            <a:avLst/>
            <a:gdLst/>
            <a:ahLst/>
            <a:cxnLst/>
            <a:rect l="l" t="t" r="r" b="b"/>
            <a:pathLst>
              <a:path h="5694045">
                <a:moveTo>
                  <a:pt x="0" y="56938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969316" y="2269067"/>
            <a:ext cx="0" cy="4703445"/>
          </a:xfrm>
          <a:custGeom>
            <a:avLst/>
            <a:gdLst/>
            <a:ahLst/>
            <a:cxnLst/>
            <a:rect l="l" t="t" r="r" b="b"/>
            <a:pathLst>
              <a:path h="4703445">
                <a:moveTo>
                  <a:pt x="0" y="47032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426516" y="2129367"/>
            <a:ext cx="0" cy="6202045"/>
          </a:xfrm>
          <a:custGeom>
            <a:avLst/>
            <a:gdLst/>
            <a:ahLst/>
            <a:cxnLst/>
            <a:rect l="l" t="t" r="r" b="b"/>
            <a:pathLst>
              <a:path h="6202045">
                <a:moveTo>
                  <a:pt x="0" y="62018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359900" y="9129183"/>
            <a:ext cx="4639945" cy="0"/>
          </a:xfrm>
          <a:custGeom>
            <a:avLst/>
            <a:gdLst/>
            <a:ahLst/>
            <a:cxnLst/>
            <a:rect l="l" t="t" r="r" b="b"/>
            <a:pathLst>
              <a:path w="4639944">
                <a:moveTo>
                  <a:pt x="0" y="0"/>
                </a:moveTo>
                <a:lnTo>
                  <a:pt x="46397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750300" y="8278283"/>
            <a:ext cx="8538845" cy="0"/>
          </a:xfrm>
          <a:custGeom>
            <a:avLst/>
            <a:gdLst/>
            <a:ahLst/>
            <a:cxnLst/>
            <a:rect l="l" t="t" r="r" b="b"/>
            <a:pathLst>
              <a:path w="8538844">
                <a:moveTo>
                  <a:pt x="0" y="0"/>
                </a:moveTo>
                <a:lnTo>
                  <a:pt x="85386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074400" y="7808383"/>
            <a:ext cx="2315845" cy="0"/>
          </a:xfrm>
          <a:custGeom>
            <a:avLst/>
            <a:gdLst/>
            <a:ahLst/>
            <a:cxnLst/>
            <a:rect l="l" t="t" r="r" b="b"/>
            <a:pathLst>
              <a:path w="2315844">
                <a:moveTo>
                  <a:pt x="0" y="0"/>
                </a:moveTo>
                <a:lnTo>
                  <a:pt x="23156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750300" y="7414683"/>
            <a:ext cx="6189345" cy="0"/>
          </a:xfrm>
          <a:custGeom>
            <a:avLst/>
            <a:gdLst/>
            <a:ahLst/>
            <a:cxnLst/>
            <a:rect l="l" t="t" r="r" b="b"/>
            <a:pathLst>
              <a:path w="6189344">
                <a:moveTo>
                  <a:pt x="0" y="0"/>
                </a:moveTo>
                <a:lnTo>
                  <a:pt x="61891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468600" y="6805083"/>
            <a:ext cx="880744" cy="0"/>
          </a:xfrm>
          <a:custGeom>
            <a:avLst/>
            <a:gdLst/>
            <a:ahLst/>
            <a:cxnLst/>
            <a:rect l="l" t="t" r="r" b="b"/>
            <a:pathLst>
              <a:path w="880744">
                <a:moveTo>
                  <a:pt x="0" y="0"/>
                </a:moveTo>
                <a:lnTo>
                  <a:pt x="8805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509500" y="6728883"/>
            <a:ext cx="982344" cy="0"/>
          </a:xfrm>
          <a:custGeom>
            <a:avLst/>
            <a:gdLst/>
            <a:ahLst/>
            <a:cxnLst/>
            <a:rect l="l" t="t" r="r" b="b"/>
            <a:pathLst>
              <a:path w="982344">
                <a:moveTo>
                  <a:pt x="0" y="0"/>
                </a:moveTo>
                <a:lnTo>
                  <a:pt x="9821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560300" y="6474883"/>
            <a:ext cx="918844" cy="0"/>
          </a:xfrm>
          <a:custGeom>
            <a:avLst/>
            <a:gdLst/>
            <a:ahLst/>
            <a:cxnLst/>
            <a:rect l="l" t="t" r="r" b="b"/>
            <a:pathLst>
              <a:path w="918844">
                <a:moveTo>
                  <a:pt x="0" y="0"/>
                </a:moveTo>
                <a:lnTo>
                  <a:pt x="9186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18500" y="6182783"/>
            <a:ext cx="2176145" cy="0"/>
          </a:xfrm>
          <a:custGeom>
            <a:avLst/>
            <a:gdLst/>
            <a:ahLst/>
            <a:cxnLst/>
            <a:rect l="l" t="t" r="r" b="b"/>
            <a:pathLst>
              <a:path w="2176145">
                <a:moveTo>
                  <a:pt x="0" y="0"/>
                </a:moveTo>
                <a:lnTo>
                  <a:pt x="21759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700500" y="6167966"/>
            <a:ext cx="774700" cy="4445"/>
          </a:xfrm>
          <a:custGeom>
            <a:avLst/>
            <a:gdLst/>
            <a:ahLst/>
            <a:cxnLst/>
            <a:rect l="l" t="t" r="r" b="b"/>
            <a:pathLst>
              <a:path w="774700" h="4445">
                <a:moveTo>
                  <a:pt x="774700" y="4233"/>
                </a:moveTo>
                <a:lnTo>
                  <a:pt x="0" y="4233"/>
                </a:lnTo>
                <a:lnTo>
                  <a:pt x="0" y="0"/>
                </a:lnTo>
                <a:lnTo>
                  <a:pt x="774700" y="0"/>
                </a:lnTo>
                <a:lnTo>
                  <a:pt x="774700" y="4233"/>
                </a:lnTo>
                <a:close/>
              </a:path>
            </a:pathLst>
          </a:custGeom>
          <a:solidFill>
            <a:srgbClr val="1C6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788900" y="6081183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5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6268700" y="6030383"/>
            <a:ext cx="918844" cy="0"/>
          </a:xfrm>
          <a:custGeom>
            <a:avLst/>
            <a:gdLst/>
            <a:ahLst/>
            <a:cxnLst/>
            <a:rect l="l" t="t" r="r" b="b"/>
            <a:pathLst>
              <a:path w="918844">
                <a:moveTo>
                  <a:pt x="0" y="0"/>
                </a:moveTo>
                <a:lnTo>
                  <a:pt x="9186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468100" y="5916083"/>
            <a:ext cx="2531745" cy="0"/>
          </a:xfrm>
          <a:custGeom>
            <a:avLst/>
            <a:gdLst/>
            <a:ahLst/>
            <a:cxnLst/>
            <a:rect l="l" t="t" r="r" b="b"/>
            <a:pathLst>
              <a:path w="2531744">
                <a:moveTo>
                  <a:pt x="0" y="0"/>
                </a:moveTo>
                <a:lnTo>
                  <a:pt x="25315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611100" y="5738283"/>
            <a:ext cx="1426845" cy="0"/>
          </a:xfrm>
          <a:custGeom>
            <a:avLst/>
            <a:gdLst/>
            <a:ahLst/>
            <a:cxnLst/>
            <a:rect l="l" t="t" r="r" b="b"/>
            <a:pathLst>
              <a:path w="1426844">
                <a:moveTo>
                  <a:pt x="0" y="0"/>
                </a:moveTo>
                <a:lnTo>
                  <a:pt x="14266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645900" y="5547783"/>
            <a:ext cx="2430145" cy="0"/>
          </a:xfrm>
          <a:custGeom>
            <a:avLst/>
            <a:gdLst/>
            <a:ahLst/>
            <a:cxnLst/>
            <a:rect l="l" t="t" r="r" b="b"/>
            <a:pathLst>
              <a:path w="2430144">
                <a:moveTo>
                  <a:pt x="0" y="0"/>
                </a:moveTo>
                <a:lnTo>
                  <a:pt x="24299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6548100" y="5560483"/>
            <a:ext cx="766445" cy="0"/>
          </a:xfrm>
          <a:custGeom>
            <a:avLst/>
            <a:gdLst/>
            <a:ahLst/>
            <a:cxnLst/>
            <a:rect l="l" t="t" r="r" b="b"/>
            <a:pathLst>
              <a:path w="766444">
                <a:moveTo>
                  <a:pt x="0" y="0"/>
                </a:moveTo>
                <a:lnTo>
                  <a:pt x="7662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2585700" y="5395383"/>
            <a:ext cx="1452245" cy="0"/>
          </a:xfrm>
          <a:custGeom>
            <a:avLst/>
            <a:gdLst/>
            <a:ahLst/>
            <a:cxnLst/>
            <a:rect l="l" t="t" r="r" b="b"/>
            <a:pathLst>
              <a:path w="1452244">
                <a:moveTo>
                  <a:pt x="0" y="0"/>
                </a:moveTo>
                <a:lnTo>
                  <a:pt x="14520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6675100" y="5228167"/>
            <a:ext cx="800100" cy="4445"/>
          </a:xfrm>
          <a:custGeom>
            <a:avLst/>
            <a:gdLst/>
            <a:ahLst/>
            <a:cxnLst/>
            <a:rect l="l" t="t" r="r" b="b"/>
            <a:pathLst>
              <a:path w="800100" h="4445">
                <a:moveTo>
                  <a:pt x="800100" y="4233"/>
                </a:moveTo>
                <a:lnTo>
                  <a:pt x="0" y="4233"/>
                </a:lnTo>
                <a:lnTo>
                  <a:pt x="0" y="0"/>
                </a:lnTo>
                <a:lnTo>
                  <a:pt x="800100" y="0"/>
                </a:lnTo>
                <a:lnTo>
                  <a:pt x="800100" y="4233"/>
                </a:lnTo>
                <a:close/>
              </a:path>
            </a:pathLst>
          </a:custGeom>
          <a:solidFill>
            <a:srgbClr val="1C6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1988800" y="5204883"/>
            <a:ext cx="2049145" cy="0"/>
          </a:xfrm>
          <a:custGeom>
            <a:avLst/>
            <a:gdLst/>
            <a:ahLst/>
            <a:cxnLst/>
            <a:rect l="l" t="t" r="r" b="b"/>
            <a:pathLst>
              <a:path w="2049144">
                <a:moveTo>
                  <a:pt x="0" y="0"/>
                </a:moveTo>
                <a:lnTo>
                  <a:pt x="20489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458200" y="5039783"/>
            <a:ext cx="3954145" cy="0"/>
          </a:xfrm>
          <a:custGeom>
            <a:avLst/>
            <a:gdLst/>
            <a:ahLst/>
            <a:cxnLst/>
            <a:rect l="l" t="t" r="r" b="b"/>
            <a:pathLst>
              <a:path w="3954145">
                <a:moveTo>
                  <a:pt x="0" y="0"/>
                </a:moveTo>
                <a:lnTo>
                  <a:pt x="39539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3335000" y="5039783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4">
                <a:moveTo>
                  <a:pt x="0" y="0"/>
                </a:moveTo>
                <a:lnTo>
                  <a:pt x="9948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56600" y="4950883"/>
            <a:ext cx="4055745" cy="0"/>
          </a:xfrm>
          <a:custGeom>
            <a:avLst/>
            <a:gdLst/>
            <a:ahLst/>
            <a:cxnLst/>
            <a:rect l="l" t="t" r="r" b="b"/>
            <a:pathLst>
              <a:path w="4055745">
                <a:moveTo>
                  <a:pt x="0" y="0"/>
                </a:moveTo>
                <a:lnTo>
                  <a:pt x="40555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18500" y="4874683"/>
            <a:ext cx="5706745" cy="0"/>
          </a:xfrm>
          <a:custGeom>
            <a:avLst/>
            <a:gdLst/>
            <a:ahLst/>
            <a:cxnLst/>
            <a:rect l="l" t="t" r="r" b="b"/>
            <a:pathLst>
              <a:path w="5706744">
                <a:moveTo>
                  <a:pt x="0" y="0"/>
                </a:moveTo>
                <a:lnTo>
                  <a:pt x="57065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646400" y="4821767"/>
            <a:ext cx="1828800" cy="4445"/>
          </a:xfrm>
          <a:custGeom>
            <a:avLst/>
            <a:gdLst/>
            <a:ahLst/>
            <a:cxnLst/>
            <a:rect l="l" t="t" r="r" b="b"/>
            <a:pathLst>
              <a:path w="1828800" h="4445">
                <a:moveTo>
                  <a:pt x="1828800" y="4233"/>
                </a:moveTo>
                <a:lnTo>
                  <a:pt x="0" y="4233"/>
                </a:lnTo>
                <a:lnTo>
                  <a:pt x="0" y="0"/>
                </a:lnTo>
                <a:lnTo>
                  <a:pt x="1828800" y="0"/>
                </a:lnTo>
                <a:lnTo>
                  <a:pt x="1828800" y="4233"/>
                </a:lnTo>
                <a:close/>
              </a:path>
            </a:pathLst>
          </a:custGeom>
          <a:solidFill>
            <a:srgbClr val="1C6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331200" y="4811183"/>
            <a:ext cx="4081145" cy="0"/>
          </a:xfrm>
          <a:custGeom>
            <a:avLst/>
            <a:gdLst/>
            <a:ahLst/>
            <a:cxnLst/>
            <a:rect l="l" t="t" r="r" b="b"/>
            <a:pathLst>
              <a:path w="4081145">
                <a:moveTo>
                  <a:pt x="0" y="0"/>
                </a:moveTo>
                <a:lnTo>
                  <a:pt x="40809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420100" y="4722283"/>
            <a:ext cx="3992245" cy="0"/>
          </a:xfrm>
          <a:custGeom>
            <a:avLst/>
            <a:gdLst/>
            <a:ahLst/>
            <a:cxnLst/>
            <a:rect l="l" t="t" r="r" b="b"/>
            <a:pathLst>
              <a:path w="3992245">
                <a:moveTo>
                  <a:pt x="0" y="0"/>
                </a:moveTo>
                <a:lnTo>
                  <a:pt x="39920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3309600" y="4709583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4">
                <a:moveTo>
                  <a:pt x="0" y="0"/>
                </a:moveTo>
                <a:lnTo>
                  <a:pt x="7281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496300" y="4671483"/>
            <a:ext cx="2049145" cy="0"/>
          </a:xfrm>
          <a:custGeom>
            <a:avLst/>
            <a:gdLst/>
            <a:ahLst/>
            <a:cxnLst/>
            <a:rect l="l" t="t" r="r" b="b"/>
            <a:pathLst>
              <a:path w="2049145">
                <a:moveTo>
                  <a:pt x="0" y="0"/>
                </a:moveTo>
                <a:lnTo>
                  <a:pt x="20489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408400" y="4633383"/>
            <a:ext cx="766445" cy="0"/>
          </a:xfrm>
          <a:custGeom>
            <a:avLst/>
            <a:gdLst/>
            <a:ahLst/>
            <a:cxnLst/>
            <a:rect l="l" t="t" r="r" b="b"/>
            <a:pathLst>
              <a:path w="766444">
                <a:moveTo>
                  <a:pt x="0" y="0"/>
                </a:moveTo>
                <a:lnTo>
                  <a:pt x="7662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649700" y="4542367"/>
            <a:ext cx="825500" cy="4445"/>
          </a:xfrm>
          <a:custGeom>
            <a:avLst/>
            <a:gdLst/>
            <a:ahLst/>
            <a:cxnLst/>
            <a:rect l="l" t="t" r="r" b="b"/>
            <a:pathLst>
              <a:path w="825500" h="4445">
                <a:moveTo>
                  <a:pt x="825500" y="4233"/>
                </a:moveTo>
                <a:lnTo>
                  <a:pt x="0" y="4233"/>
                </a:lnTo>
                <a:lnTo>
                  <a:pt x="0" y="0"/>
                </a:lnTo>
                <a:lnTo>
                  <a:pt x="825500" y="0"/>
                </a:lnTo>
                <a:lnTo>
                  <a:pt x="825500" y="4233"/>
                </a:lnTo>
                <a:close/>
              </a:path>
            </a:pathLst>
          </a:custGeom>
          <a:solidFill>
            <a:srgbClr val="1C6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1963400" y="4531783"/>
            <a:ext cx="2074545" cy="0"/>
          </a:xfrm>
          <a:custGeom>
            <a:avLst/>
            <a:gdLst/>
            <a:ahLst/>
            <a:cxnLst/>
            <a:rect l="l" t="t" r="r" b="b"/>
            <a:pathLst>
              <a:path w="2074544">
                <a:moveTo>
                  <a:pt x="0" y="0"/>
                </a:moveTo>
                <a:lnTo>
                  <a:pt x="20743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2611100" y="4353983"/>
            <a:ext cx="1426845" cy="0"/>
          </a:xfrm>
          <a:custGeom>
            <a:avLst/>
            <a:gdLst/>
            <a:ahLst/>
            <a:cxnLst/>
            <a:rect l="l" t="t" r="r" b="b"/>
            <a:pathLst>
              <a:path w="1426844">
                <a:moveTo>
                  <a:pt x="0" y="0"/>
                </a:moveTo>
                <a:lnTo>
                  <a:pt x="14266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6408400" y="4237566"/>
            <a:ext cx="1066800" cy="4445"/>
          </a:xfrm>
          <a:custGeom>
            <a:avLst/>
            <a:gdLst/>
            <a:ahLst/>
            <a:cxnLst/>
            <a:rect l="l" t="t" r="r" b="b"/>
            <a:pathLst>
              <a:path w="1066800" h="4445">
                <a:moveTo>
                  <a:pt x="1066800" y="4233"/>
                </a:moveTo>
                <a:lnTo>
                  <a:pt x="0" y="4233"/>
                </a:lnTo>
                <a:lnTo>
                  <a:pt x="0" y="0"/>
                </a:lnTo>
                <a:lnTo>
                  <a:pt x="1066800" y="0"/>
                </a:lnTo>
                <a:lnTo>
                  <a:pt x="1066800" y="4233"/>
                </a:lnTo>
                <a:close/>
              </a:path>
            </a:pathLst>
          </a:custGeom>
          <a:solidFill>
            <a:srgbClr val="1C6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11620500" y="4174066"/>
            <a:ext cx="2480945" cy="42545"/>
            <a:chOff x="11620500" y="4174066"/>
            <a:chExt cx="2480945" cy="42545"/>
          </a:xfrm>
        </p:grpSpPr>
        <p:sp>
          <p:nvSpPr>
            <p:cNvPr id="69" name="object 69"/>
            <p:cNvSpPr/>
            <p:nvPr/>
          </p:nvSpPr>
          <p:spPr>
            <a:xfrm>
              <a:off x="11620500" y="4214283"/>
              <a:ext cx="2480945" cy="0"/>
            </a:xfrm>
            <a:custGeom>
              <a:avLst/>
              <a:gdLst/>
              <a:ahLst/>
              <a:cxnLst/>
              <a:rect l="l" t="t" r="r" b="b"/>
              <a:pathLst>
                <a:path w="2480944">
                  <a:moveTo>
                    <a:pt x="0" y="0"/>
                  </a:moveTo>
                  <a:lnTo>
                    <a:pt x="2480733" y="0"/>
                  </a:lnTo>
                </a:path>
              </a:pathLst>
            </a:custGeom>
            <a:ln w="4233">
              <a:solidFill>
                <a:srgbClr val="1C6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633200" y="4176183"/>
              <a:ext cx="2404745" cy="0"/>
            </a:xfrm>
            <a:custGeom>
              <a:avLst/>
              <a:gdLst/>
              <a:ahLst/>
              <a:cxnLst/>
              <a:rect l="l" t="t" r="r" b="b"/>
              <a:pathLst>
                <a:path w="2404744">
                  <a:moveTo>
                    <a:pt x="0" y="0"/>
                  </a:moveTo>
                  <a:lnTo>
                    <a:pt x="2404533" y="0"/>
                  </a:lnTo>
                </a:path>
              </a:pathLst>
            </a:custGeom>
            <a:ln w="4233">
              <a:solidFill>
                <a:srgbClr val="1C6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/>
          <p:nvPr/>
        </p:nvSpPr>
        <p:spPr>
          <a:xfrm>
            <a:off x="12598400" y="3998383"/>
            <a:ext cx="1477645" cy="0"/>
          </a:xfrm>
          <a:custGeom>
            <a:avLst/>
            <a:gdLst/>
            <a:ahLst/>
            <a:cxnLst/>
            <a:rect l="l" t="t" r="r" b="b"/>
            <a:pathLst>
              <a:path w="1477644">
                <a:moveTo>
                  <a:pt x="0" y="0"/>
                </a:moveTo>
                <a:lnTo>
                  <a:pt x="14774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1480800" y="3845983"/>
            <a:ext cx="2468245" cy="0"/>
          </a:xfrm>
          <a:custGeom>
            <a:avLst/>
            <a:gdLst/>
            <a:ahLst/>
            <a:cxnLst/>
            <a:rect l="l" t="t" r="r" b="b"/>
            <a:pathLst>
              <a:path w="2468244">
                <a:moveTo>
                  <a:pt x="0" y="0"/>
                </a:moveTo>
                <a:lnTo>
                  <a:pt x="24680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3" name="object 73"/>
          <p:cNvGrpSpPr/>
          <p:nvPr/>
        </p:nvGrpSpPr>
        <p:grpSpPr>
          <a:xfrm>
            <a:off x="12788900" y="3640666"/>
            <a:ext cx="906144" cy="42545"/>
            <a:chOff x="12788900" y="3640666"/>
            <a:chExt cx="906144" cy="42545"/>
          </a:xfrm>
        </p:grpSpPr>
        <p:sp>
          <p:nvSpPr>
            <p:cNvPr id="74" name="object 74"/>
            <p:cNvSpPr/>
            <p:nvPr/>
          </p:nvSpPr>
          <p:spPr>
            <a:xfrm>
              <a:off x="12814300" y="3680883"/>
              <a:ext cx="753745" cy="0"/>
            </a:xfrm>
            <a:custGeom>
              <a:avLst/>
              <a:gdLst/>
              <a:ahLst/>
              <a:cxnLst/>
              <a:rect l="l" t="t" r="r" b="b"/>
              <a:pathLst>
                <a:path w="753744">
                  <a:moveTo>
                    <a:pt x="0" y="0"/>
                  </a:moveTo>
                  <a:lnTo>
                    <a:pt x="753533" y="0"/>
                  </a:lnTo>
                </a:path>
              </a:pathLst>
            </a:custGeom>
            <a:ln w="4233">
              <a:solidFill>
                <a:srgbClr val="1C6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2788900" y="3642783"/>
              <a:ext cx="906144" cy="0"/>
            </a:xfrm>
            <a:custGeom>
              <a:avLst/>
              <a:gdLst/>
              <a:ahLst/>
              <a:cxnLst/>
              <a:rect l="l" t="t" r="r" b="b"/>
              <a:pathLst>
                <a:path w="906144">
                  <a:moveTo>
                    <a:pt x="0" y="0"/>
                  </a:moveTo>
                  <a:lnTo>
                    <a:pt x="905933" y="0"/>
                  </a:lnTo>
                </a:path>
              </a:pathLst>
            </a:custGeom>
            <a:ln w="4233">
              <a:solidFill>
                <a:srgbClr val="1C67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/>
          <p:nvPr/>
        </p:nvSpPr>
        <p:spPr>
          <a:xfrm>
            <a:off x="8318500" y="3591983"/>
            <a:ext cx="2353945" cy="0"/>
          </a:xfrm>
          <a:custGeom>
            <a:avLst/>
            <a:gdLst/>
            <a:ahLst/>
            <a:cxnLst/>
            <a:rect l="l" t="t" r="r" b="b"/>
            <a:pathLst>
              <a:path w="2353945">
                <a:moveTo>
                  <a:pt x="0" y="0"/>
                </a:moveTo>
                <a:lnTo>
                  <a:pt x="23537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560300" y="3249083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4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2573000" y="3312583"/>
            <a:ext cx="918844" cy="0"/>
          </a:xfrm>
          <a:custGeom>
            <a:avLst/>
            <a:gdLst/>
            <a:ahLst/>
            <a:cxnLst/>
            <a:rect l="l" t="t" r="r" b="b"/>
            <a:pathLst>
              <a:path w="918844">
                <a:moveTo>
                  <a:pt x="0" y="0"/>
                </a:moveTo>
                <a:lnTo>
                  <a:pt x="9186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6776700" y="3259666"/>
            <a:ext cx="698500" cy="4445"/>
          </a:xfrm>
          <a:custGeom>
            <a:avLst/>
            <a:gdLst/>
            <a:ahLst/>
            <a:cxnLst/>
            <a:rect l="l" t="t" r="r" b="b"/>
            <a:pathLst>
              <a:path w="698500" h="4445">
                <a:moveTo>
                  <a:pt x="698500" y="4233"/>
                </a:moveTo>
                <a:lnTo>
                  <a:pt x="0" y="4233"/>
                </a:lnTo>
                <a:lnTo>
                  <a:pt x="0" y="0"/>
                </a:lnTo>
                <a:lnTo>
                  <a:pt x="698500" y="0"/>
                </a:lnTo>
                <a:lnTo>
                  <a:pt x="698500" y="4233"/>
                </a:lnTo>
                <a:close/>
              </a:path>
            </a:pathLst>
          </a:custGeom>
          <a:solidFill>
            <a:srgbClr val="1C6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2484100" y="2995083"/>
            <a:ext cx="1160145" cy="0"/>
          </a:xfrm>
          <a:custGeom>
            <a:avLst/>
            <a:gdLst/>
            <a:ahLst/>
            <a:cxnLst/>
            <a:rect l="l" t="t" r="r" b="b"/>
            <a:pathLst>
              <a:path w="1160144">
                <a:moveTo>
                  <a:pt x="0" y="0"/>
                </a:moveTo>
                <a:lnTo>
                  <a:pt x="11599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537700" y="2880783"/>
            <a:ext cx="4030345" cy="0"/>
          </a:xfrm>
          <a:custGeom>
            <a:avLst/>
            <a:gdLst/>
            <a:ahLst/>
            <a:cxnLst/>
            <a:rect l="l" t="t" r="r" b="b"/>
            <a:pathLst>
              <a:path w="4030344">
                <a:moveTo>
                  <a:pt x="0" y="0"/>
                </a:moveTo>
                <a:lnTo>
                  <a:pt x="40301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0655300" y="2233083"/>
            <a:ext cx="2150745" cy="0"/>
          </a:xfrm>
          <a:custGeom>
            <a:avLst/>
            <a:gdLst/>
            <a:ahLst/>
            <a:cxnLst/>
            <a:rect l="l" t="t" r="r" b="b"/>
            <a:pathLst>
              <a:path w="2150745">
                <a:moveTo>
                  <a:pt x="0" y="0"/>
                </a:moveTo>
                <a:lnTo>
                  <a:pt x="2150533" y="0"/>
                </a:lnTo>
              </a:path>
            </a:pathLst>
          </a:custGeom>
          <a:ln w="4233">
            <a:solidFill>
              <a:srgbClr val="1C67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074400" y="618067"/>
            <a:ext cx="6400800" cy="4445"/>
          </a:xfrm>
          <a:custGeom>
            <a:avLst/>
            <a:gdLst/>
            <a:ahLst/>
            <a:cxnLst/>
            <a:rect l="l" t="t" r="r" b="b"/>
            <a:pathLst>
              <a:path w="6400800" h="4445">
                <a:moveTo>
                  <a:pt x="6400800" y="4233"/>
                </a:moveTo>
                <a:lnTo>
                  <a:pt x="0" y="4233"/>
                </a:lnTo>
                <a:lnTo>
                  <a:pt x="0" y="0"/>
                </a:lnTo>
                <a:lnTo>
                  <a:pt x="6400800" y="0"/>
                </a:lnTo>
                <a:lnTo>
                  <a:pt x="6400800" y="4233"/>
                </a:lnTo>
                <a:close/>
              </a:path>
            </a:pathLst>
          </a:custGeom>
          <a:solidFill>
            <a:srgbClr val="1C67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750300" y="9129183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5">
                <a:moveTo>
                  <a:pt x="0" y="0"/>
                </a:moveTo>
                <a:lnTo>
                  <a:pt x="5503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>
            <a:spLocks noGrp="1"/>
          </p:cNvSpPr>
          <p:nvPr>
            <p:ph type="title"/>
          </p:nvPr>
        </p:nvSpPr>
        <p:spPr>
          <a:xfrm>
            <a:off x="740771" y="524005"/>
            <a:ext cx="9643595" cy="3930563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 marR="5080" indent="3175">
              <a:lnSpc>
                <a:spcPct val="78700"/>
              </a:lnSpc>
              <a:spcBef>
                <a:spcPts val="2020"/>
              </a:spcBef>
            </a:pPr>
            <a:r>
              <a:rPr sz="7400" spc="-735" dirty="0">
                <a:solidFill>
                  <a:srgbClr val="1A1A1A"/>
                </a:solidFill>
              </a:rPr>
              <a:t>PROCESS</a:t>
            </a:r>
            <a:r>
              <a:rPr sz="7400" spc="-35" dirty="0">
                <a:solidFill>
                  <a:srgbClr val="1A1A1A"/>
                </a:solidFill>
              </a:rPr>
              <a:t> </a:t>
            </a:r>
            <a:r>
              <a:rPr sz="7400" spc="-425" dirty="0">
                <a:solidFill>
                  <a:srgbClr val="1C1C1C"/>
                </a:solidFill>
              </a:rPr>
              <a:t>MINING</a:t>
            </a:r>
            <a:r>
              <a:rPr lang="it-IT" sz="7400" spc="-425" dirty="0">
                <a:solidFill>
                  <a:srgbClr val="1C1C1C"/>
                </a:solidFill>
              </a:rPr>
              <a:t> &amp; AI</a:t>
            </a:r>
            <a:r>
              <a:rPr sz="7400" spc="-425" dirty="0">
                <a:solidFill>
                  <a:srgbClr val="1C1C1C"/>
                </a:solidFill>
              </a:rPr>
              <a:t> </a:t>
            </a:r>
            <a:r>
              <a:rPr lang="it-IT" sz="7600" spc="-690" dirty="0">
                <a:solidFill>
                  <a:srgbClr val="1C1C1C"/>
                </a:solidFill>
              </a:rPr>
              <a:t>REVOLUTIONIZE</a:t>
            </a:r>
            <a:br>
              <a:rPr lang="it-IT" sz="7600" spc="-690" dirty="0">
                <a:solidFill>
                  <a:srgbClr val="1C1C1C"/>
                </a:solidFill>
              </a:rPr>
            </a:br>
            <a:r>
              <a:rPr lang="it-IT" sz="7600" spc="-690" dirty="0">
                <a:solidFill>
                  <a:srgbClr val="1C1C1C"/>
                </a:solidFill>
              </a:rPr>
              <a:t>E-COMMERCE</a:t>
            </a:r>
            <a:br>
              <a:rPr lang="it-IT" sz="7600" spc="-690" dirty="0">
                <a:solidFill>
                  <a:srgbClr val="1C1C1C"/>
                </a:solidFill>
              </a:rPr>
            </a:br>
            <a:r>
              <a:rPr lang="it-IT" sz="7600" spc="-690" dirty="0">
                <a:solidFill>
                  <a:srgbClr val="1C1C1C"/>
                </a:solidFill>
              </a:rPr>
              <a:t>ANALYTICS</a:t>
            </a:r>
            <a:endParaRPr sz="7500" dirty="0"/>
          </a:p>
        </p:txBody>
      </p:sp>
      <p:sp>
        <p:nvSpPr>
          <p:cNvPr id="86" name="object 86"/>
          <p:cNvSpPr txBox="1"/>
          <p:nvPr/>
        </p:nvSpPr>
        <p:spPr>
          <a:xfrm>
            <a:off x="700268" y="3255688"/>
            <a:ext cx="6101715" cy="2881630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endParaRPr sz="7200" dirty="0">
              <a:latin typeface="Arial MT"/>
              <a:cs typeface="Arial MT"/>
            </a:endParaRPr>
          </a:p>
          <a:p>
            <a:pPr marL="26034" marR="5080" indent="8255">
              <a:lnSpc>
                <a:spcPts val="3700"/>
              </a:lnSpc>
              <a:spcBef>
                <a:spcPts val="1300"/>
              </a:spcBef>
            </a:pPr>
            <a:r>
              <a:rPr lang="en-US" sz="3550" dirty="0">
                <a:latin typeface="Calibri"/>
                <a:cs typeface="Calibri"/>
              </a:rPr>
              <a:t>From process discovery to behavioral prediction with Llama 3 and </a:t>
            </a:r>
            <a:r>
              <a:rPr lang="en-US" sz="3550" dirty="0" err="1">
                <a:latin typeface="Calibri"/>
                <a:cs typeface="Calibri"/>
              </a:rPr>
              <a:t>Streamlit</a:t>
            </a:r>
            <a:r>
              <a:rPr lang="en-US" sz="3550" dirty="0">
                <a:latin typeface="Calibri"/>
                <a:cs typeface="Calibri"/>
              </a:rPr>
              <a:t>.</a:t>
            </a:r>
            <a:endParaRPr sz="3550" dirty="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3064007" y="4407958"/>
            <a:ext cx="24511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50" dirty="0">
                <a:solidFill>
                  <a:srgbClr val="1C4D8E"/>
                </a:solidFill>
                <a:latin typeface="Calibri"/>
                <a:cs typeface="Calibri"/>
              </a:rPr>
              <a:t>•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136070" y="5347758"/>
            <a:ext cx="50355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250" dirty="0">
                <a:solidFill>
                  <a:srgbClr val="1F4D80"/>
                </a:solidFill>
                <a:latin typeface="Calibri"/>
                <a:cs typeface="Calibri"/>
              </a:rPr>
              <a:t>"</a:t>
            </a:r>
            <a:r>
              <a:rPr sz="3550" spc="250" dirty="0">
                <a:solidFill>
                  <a:srgbClr val="3167A8"/>
                </a:solidFill>
                <a:latin typeface="Calibri"/>
                <a:cs typeface="Calibri"/>
              </a:rPr>
              <a:t>*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5477" y="7489119"/>
            <a:ext cx="144399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229" dirty="0">
                <a:latin typeface="Arial MT"/>
                <a:cs typeface="Arial MT"/>
              </a:rPr>
              <a:t>OBIETTIVO: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52958" y="8337550"/>
            <a:ext cx="17157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375" dirty="0">
                <a:latin typeface="Arial MT"/>
                <a:cs typeface="Arial MT"/>
              </a:rPr>
              <a:t>TECNOLOGIA: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025418" y="6156677"/>
            <a:ext cx="803910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60" dirty="0">
                <a:solidFill>
                  <a:srgbClr val="5E5E5E"/>
                </a:solidFill>
                <a:latin typeface="Arial MT"/>
                <a:cs typeface="Arial MT"/>
              </a:rPr>
              <a:t>”nel</a:t>
            </a:r>
            <a:r>
              <a:rPr sz="950" spc="-60" dirty="0">
                <a:solidFill>
                  <a:srgbClr val="595959"/>
                </a:solidFill>
                <a:latin typeface="Arial MT"/>
                <a:cs typeface="Arial MT"/>
              </a:rPr>
              <a:t>*</a:t>
            </a:r>
            <a:r>
              <a:rPr sz="95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626262"/>
                </a:solidFill>
                <a:latin typeface="Arial MT"/>
                <a:cs typeface="Arial MT"/>
              </a:rPr>
              <a:t>i.•</a:t>
            </a:r>
            <a:r>
              <a:rPr sz="950" spc="-155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6B6B"/>
                </a:solidFill>
                <a:latin typeface="Arial MT"/>
                <a:cs typeface="Arial MT"/>
              </a:rPr>
              <a:t>i</a:t>
            </a:r>
            <a:r>
              <a:rPr sz="950" spc="470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950" spc="-160" dirty="0">
                <a:solidFill>
                  <a:srgbClr val="545454"/>
                </a:solidFill>
                <a:latin typeface="Arial MT"/>
                <a:cs typeface="Arial MT"/>
              </a:rPr>
              <a:t>'.+</a:t>
            </a:r>
            <a:r>
              <a:rPr sz="950" spc="-1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424242"/>
                </a:solidFill>
                <a:latin typeface="Arial MT"/>
                <a:cs typeface="Arial MT"/>
              </a:rPr>
              <a:t>r:‹.5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133996" y="6156677"/>
            <a:ext cx="59055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160" dirty="0">
                <a:solidFill>
                  <a:srgbClr val="2169C1"/>
                </a:solidFill>
                <a:latin typeface="Arial MT"/>
                <a:cs typeface="Arial MT"/>
              </a:rPr>
              <a:t>y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3082372" y="6345766"/>
            <a:ext cx="103505" cy="1079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315" dirty="0">
                <a:solidFill>
                  <a:srgbClr val="1360BA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50" spc="-315" dirty="0">
                <a:solidFill>
                  <a:srgbClr val="1A62C1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769503" y="7513108"/>
            <a:ext cx="4180840" cy="1509131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7940" marR="49530" indent="-10795">
              <a:lnSpc>
                <a:spcPct val="79700"/>
              </a:lnSpc>
              <a:spcBef>
                <a:spcPts val="650"/>
              </a:spcBef>
            </a:pPr>
            <a:r>
              <a:rPr lang="en-US" sz="2300" spc="-80" dirty="0">
                <a:latin typeface="Arial MT"/>
                <a:cs typeface="Arial MT"/>
              </a:rPr>
              <a:t>Transform browsing logs into actionable conversion strategies.</a:t>
            </a:r>
            <a:r>
              <a:rPr sz="2300" spc="-80" dirty="0">
                <a:latin typeface="Arial MT"/>
                <a:cs typeface="Arial MT"/>
              </a:rPr>
              <a:t>.</a:t>
            </a:r>
            <a:endParaRPr sz="2300" dirty="0">
              <a:latin typeface="Arial MT"/>
              <a:cs typeface="Arial MT"/>
            </a:endParaRPr>
          </a:p>
          <a:p>
            <a:pPr marL="20955" marR="5080" indent="-8890">
              <a:lnSpc>
                <a:spcPct val="73300"/>
              </a:lnSpc>
              <a:spcBef>
                <a:spcPts val="2340"/>
              </a:spcBef>
            </a:pPr>
            <a:r>
              <a:rPr sz="2500" spc="-210" dirty="0">
                <a:latin typeface="Arial MT"/>
                <a:cs typeface="Arial MT"/>
              </a:rPr>
              <a:t>Pipeline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Python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60" dirty="0">
                <a:latin typeface="Arial MT"/>
                <a:cs typeface="Arial MT"/>
              </a:rPr>
              <a:t>integrata</a:t>
            </a:r>
            <a:r>
              <a:rPr sz="2500" spc="120" dirty="0">
                <a:latin typeface="Arial MT"/>
                <a:cs typeface="Arial MT"/>
              </a:rPr>
              <a:t> </a:t>
            </a:r>
            <a:r>
              <a:rPr sz="2500" spc="-240" dirty="0">
                <a:latin typeface="Arial MT"/>
                <a:cs typeface="Arial MT"/>
              </a:rPr>
              <a:t>con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290" dirty="0">
                <a:latin typeface="Arial MT"/>
                <a:cs typeface="Arial MT"/>
              </a:rPr>
              <a:t>Groq </a:t>
            </a:r>
            <a:r>
              <a:rPr sz="2500" spc="-245" dirty="0">
                <a:latin typeface="Arial MT"/>
                <a:cs typeface="Arial MT"/>
              </a:rPr>
              <a:t>Cloud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spc="-275" dirty="0">
                <a:latin typeface="Arial MT"/>
                <a:cs typeface="Arial MT"/>
              </a:rPr>
              <a:t>(Llama</a:t>
            </a:r>
            <a:r>
              <a:rPr sz="2500" spc="14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3.3).</a:t>
            </a:r>
            <a:endParaRPr sz="2500" dirty="0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843152" y="7513108"/>
            <a:ext cx="36893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</a:tabLst>
            </a:pPr>
            <a:r>
              <a:rPr sz="2300" spc="-25" dirty="0">
                <a:solidFill>
                  <a:srgbClr val="646464"/>
                </a:solidFill>
                <a:latin typeface="Arial MT"/>
                <a:cs typeface="Arial MT"/>
              </a:rPr>
              <a:t>’•</a:t>
            </a:r>
            <a:r>
              <a:rPr sz="2300" dirty="0">
                <a:solidFill>
                  <a:srgbClr val="646464"/>
                </a:solidFill>
                <a:latin typeface="Arial MT"/>
                <a:cs typeface="Arial MT"/>
              </a:rPr>
              <a:t>	</a:t>
            </a:r>
            <a:r>
              <a:rPr sz="2300" spc="-180" dirty="0">
                <a:solidFill>
                  <a:srgbClr val="646464"/>
                </a:solidFill>
                <a:latin typeface="Arial MT"/>
                <a:cs typeface="Arial MT"/>
              </a:rPr>
              <a:t>"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3055244" y="7513108"/>
            <a:ext cx="11303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60" dirty="0">
                <a:solidFill>
                  <a:srgbClr val="2164BA"/>
                </a:solidFill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166" y="473427"/>
            <a:ext cx="14216434" cy="7386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4700" spc="110" dirty="0"/>
              <a:t>THE CONTEXT: THE OPACITY OF BIG DATA</a:t>
            </a:r>
            <a:endParaRPr sz="4700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627037" y="2420761"/>
            <a:ext cx="7257415" cy="5267276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3495" marR="471805" indent="-11430">
              <a:lnSpc>
                <a:spcPct val="92300"/>
              </a:lnSpc>
              <a:spcBef>
                <a:spcPts val="495"/>
              </a:spcBef>
            </a:pPr>
            <a:r>
              <a:rPr lang="en-US" dirty="0"/>
              <a:t>E-commerce datasets contain millions of events. Without causal structure, this data remains indecipherable “noise.”</a:t>
            </a:r>
          </a:p>
          <a:p>
            <a:pPr marL="23495" marR="471805" indent="-11430">
              <a:lnSpc>
                <a:spcPct val="92300"/>
              </a:lnSpc>
              <a:spcBef>
                <a:spcPts val="495"/>
              </a:spcBef>
            </a:pPr>
            <a:endParaRPr lang="en-US" sz="4150" spc="-290" dirty="0"/>
          </a:p>
          <a:p>
            <a:pPr marL="23495" marR="471805" indent="-11430">
              <a:lnSpc>
                <a:spcPct val="92300"/>
              </a:lnSpc>
              <a:spcBef>
                <a:spcPts val="495"/>
              </a:spcBef>
            </a:pPr>
            <a:r>
              <a:rPr lang="en-US" sz="4150" spc="-290" dirty="0"/>
              <a:t>Without Process Mining, we see WHAT happened, but not HOW or WHY.</a:t>
            </a:r>
            <a:endParaRPr sz="4150" dirty="0"/>
          </a:p>
        </p:txBody>
      </p:sp>
      <p:sp>
        <p:nvSpPr>
          <p:cNvPr id="4" name="object 4"/>
          <p:cNvSpPr txBox="1"/>
          <p:nvPr/>
        </p:nvSpPr>
        <p:spPr>
          <a:xfrm>
            <a:off x="9713145" y="1893711"/>
            <a:ext cx="40709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110" dirty="0">
                <a:latin typeface="Arial MT"/>
                <a:cs typeface="Arial MT"/>
              </a:rPr>
              <a:t>SCHEDA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5" dirty="0">
                <a:latin typeface="Arial MT"/>
                <a:cs typeface="Arial MT"/>
              </a:rPr>
              <a:t>DATI</a:t>
            </a:r>
            <a:r>
              <a:rPr sz="2600" spc="-125" dirty="0">
                <a:latin typeface="Arial MT"/>
                <a:cs typeface="Arial MT"/>
              </a:rPr>
              <a:t> </a:t>
            </a:r>
            <a:r>
              <a:rPr sz="2600" spc="-40" dirty="0">
                <a:latin typeface="Arial MT"/>
                <a:cs typeface="Arial MT"/>
              </a:rPr>
              <a:t>TECNICA</a:t>
            </a:r>
            <a:r>
              <a:rPr sz="2600" spc="40" dirty="0">
                <a:latin typeface="Arial MT"/>
                <a:cs typeface="Arial MT"/>
              </a:rPr>
              <a:t> </a:t>
            </a:r>
            <a:r>
              <a:rPr sz="2600" spc="-50" dirty="0">
                <a:solidFill>
                  <a:srgbClr val="626262"/>
                </a:solidFill>
                <a:latin typeface="Arial MT"/>
                <a:cs typeface="Arial MT"/>
              </a:rPr>
              <a:t>@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3864" y="2595033"/>
            <a:ext cx="5465445" cy="34387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ts val="3090"/>
              </a:lnSpc>
              <a:spcBef>
                <a:spcPts val="114"/>
              </a:spcBef>
            </a:pPr>
            <a:r>
              <a:rPr sz="2900" spc="-210" dirty="0">
                <a:latin typeface="Arial MT"/>
                <a:cs typeface="Arial MT"/>
              </a:rPr>
              <a:t>Volume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Dati</a:t>
            </a:r>
            <a:endParaRPr sz="2900" dirty="0">
              <a:latin typeface="Arial MT"/>
              <a:cs typeface="Arial MT"/>
            </a:endParaRPr>
          </a:p>
          <a:p>
            <a:pPr marL="12700">
              <a:lnSpc>
                <a:spcPts val="3090"/>
              </a:lnSpc>
            </a:pPr>
            <a:r>
              <a:rPr sz="2900" spc="-265" dirty="0">
                <a:latin typeface="Arial MT"/>
                <a:cs typeface="Arial MT"/>
              </a:rPr>
              <a:t>105</a:t>
            </a:r>
            <a:r>
              <a:rPr sz="2900" spc="20" dirty="0">
                <a:latin typeface="Arial MT"/>
                <a:cs typeface="Arial MT"/>
              </a:rPr>
              <a:t> </a:t>
            </a:r>
            <a:r>
              <a:rPr sz="2900" spc="-330" dirty="0">
                <a:latin typeface="Arial MT"/>
                <a:cs typeface="Arial MT"/>
              </a:rPr>
              <a:t>MB</a:t>
            </a:r>
            <a:r>
              <a:rPr sz="2900" spc="35" dirty="0">
                <a:latin typeface="Arial MT"/>
                <a:cs typeface="Arial MT"/>
              </a:rPr>
              <a:t> </a:t>
            </a:r>
            <a:r>
              <a:rPr sz="2900" spc="-215" dirty="0">
                <a:latin typeface="Arial MT"/>
                <a:cs typeface="Arial MT"/>
              </a:rPr>
              <a:t>(File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Grezzi)</a:t>
            </a:r>
            <a:endParaRPr sz="2900" dirty="0">
              <a:latin typeface="Arial MT"/>
              <a:cs typeface="Arial MT"/>
            </a:endParaRPr>
          </a:p>
          <a:p>
            <a:pPr marL="24765">
              <a:lnSpc>
                <a:spcPts val="2935"/>
              </a:lnSpc>
              <a:spcBef>
                <a:spcPts val="1620"/>
              </a:spcBef>
            </a:pPr>
            <a:r>
              <a:rPr sz="2600" dirty="0">
                <a:latin typeface="Arial MT"/>
                <a:cs typeface="Arial MT"/>
              </a:rPr>
              <a:t>Sfida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Tecnica</a:t>
            </a:r>
            <a:endParaRPr sz="2600" dirty="0">
              <a:latin typeface="Arial MT"/>
              <a:cs typeface="Arial MT"/>
            </a:endParaRPr>
          </a:p>
          <a:p>
            <a:pPr marL="36195">
              <a:lnSpc>
                <a:spcPts val="2645"/>
              </a:lnSpc>
            </a:pPr>
            <a:r>
              <a:rPr sz="2550" dirty="0">
                <a:latin typeface="Arial MT"/>
                <a:cs typeface="Arial MT"/>
              </a:rPr>
              <a:t>Cleaning</a:t>
            </a:r>
            <a:r>
              <a:rPr sz="2550" spc="-10" dirty="0">
                <a:latin typeface="Arial MT"/>
                <a:cs typeface="Arial MT"/>
              </a:rPr>
              <a:t> </a:t>
            </a:r>
            <a:r>
              <a:rPr lang="it-IT" sz="2550" dirty="0" err="1">
                <a:latin typeface="Arial MT"/>
                <a:cs typeface="Arial MT"/>
              </a:rPr>
              <a:t>null</a:t>
            </a:r>
            <a:r>
              <a:rPr lang="it-IT" sz="2550" dirty="0">
                <a:latin typeface="Arial MT"/>
                <a:cs typeface="Arial MT"/>
              </a:rPr>
              <a:t> </a:t>
            </a:r>
            <a:r>
              <a:rPr lang="it-IT" sz="2550" dirty="0" err="1">
                <a:latin typeface="Arial MT"/>
                <a:cs typeface="Arial MT"/>
              </a:rPr>
              <a:t>value</a:t>
            </a:r>
            <a:r>
              <a:rPr sz="2550" spc="-14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&amp;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Timestamp</a:t>
            </a:r>
            <a:r>
              <a:rPr sz="2550" spc="6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non</a:t>
            </a:r>
            <a:endParaRPr sz="2550" dirty="0">
              <a:latin typeface="Arial MT"/>
              <a:cs typeface="Arial MT"/>
            </a:endParaRPr>
          </a:p>
          <a:p>
            <a:pPr marL="41910">
              <a:lnSpc>
                <a:spcPts val="3010"/>
              </a:lnSpc>
            </a:pPr>
            <a:r>
              <a:rPr lang="it-IT" sz="2700" spc="-10" dirty="0">
                <a:latin typeface="Arial MT"/>
                <a:cs typeface="Arial MT"/>
              </a:rPr>
              <a:t>S</a:t>
            </a:r>
            <a:r>
              <a:rPr sz="2700" spc="-10" dirty="0" err="1">
                <a:latin typeface="Arial MT"/>
                <a:cs typeface="Arial MT"/>
              </a:rPr>
              <a:t>tandard</a:t>
            </a:r>
            <a:endParaRPr sz="2700" dirty="0">
              <a:latin typeface="Arial MT"/>
              <a:cs typeface="Arial MT"/>
            </a:endParaRPr>
          </a:p>
          <a:p>
            <a:pPr marL="36830">
              <a:lnSpc>
                <a:spcPts val="2935"/>
              </a:lnSpc>
              <a:spcBef>
                <a:spcPts val="1660"/>
              </a:spcBef>
            </a:pPr>
            <a:r>
              <a:rPr lang="en-US" sz="2600" spc="-10" dirty="0">
                <a:latin typeface="Arial MT"/>
                <a:cs typeface="Arial MT"/>
              </a:rPr>
              <a:t>Optimization</a:t>
            </a:r>
            <a:br>
              <a:rPr lang="en-US" sz="2600" spc="-10" dirty="0">
                <a:latin typeface="Arial MT"/>
                <a:cs typeface="Arial MT"/>
              </a:rPr>
            </a:br>
            <a:r>
              <a:rPr lang="en-US" sz="2600" spc="-10" dirty="0">
                <a:latin typeface="Arial MT"/>
                <a:cs typeface="Arial MT"/>
              </a:rPr>
              <a:t>Selection of first 5000 sessions unique per performance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95628" y="7301089"/>
            <a:ext cx="7327265" cy="13093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85" dirty="0">
                <a:latin typeface="Arial MT"/>
                <a:cs typeface="Arial MT"/>
              </a:rPr>
              <a:t>SNIPPET</a:t>
            </a:r>
            <a:r>
              <a:rPr sz="2350" spc="-8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DI</a:t>
            </a:r>
            <a:r>
              <a:rPr sz="2350" spc="-160" dirty="0">
                <a:latin typeface="Arial MT"/>
                <a:cs typeface="Arial MT"/>
              </a:rPr>
              <a:t> </a:t>
            </a:r>
            <a:r>
              <a:rPr sz="2350" spc="-70" dirty="0">
                <a:latin typeface="Arial MT"/>
                <a:cs typeface="Arial MT"/>
              </a:rPr>
              <a:t>CODICE</a:t>
            </a:r>
            <a:r>
              <a:rPr sz="2350" spc="-2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(PYTHON/PANDAS)</a:t>
            </a:r>
            <a:endParaRPr sz="2350">
              <a:latin typeface="Arial MT"/>
              <a:cs typeface="Arial MT"/>
            </a:endParaRPr>
          </a:p>
          <a:p>
            <a:pPr marL="20320" marR="5080" indent="8255">
              <a:lnSpc>
                <a:spcPct val="106100"/>
              </a:lnSpc>
              <a:spcBef>
                <a:spcPts val="1670"/>
              </a:spcBef>
              <a:tabLst>
                <a:tab pos="441959" algn="l"/>
                <a:tab pos="727075" algn="l"/>
                <a:tab pos="2270760" algn="l"/>
                <a:tab pos="2555875" algn="l"/>
                <a:tab pos="4106545" algn="l"/>
              </a:tabLst>
            </a:pPr>
            <a:r>
              <a:rPr sz="2200" spc="25" dirty="0">
                <a:latin typeface="Arial MT"/>
                <a:cs typeface="Arial MT"/>
              </a:rPr>
              <a:t>df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0" dirty="0">
                <a:latin typeface="Arial MT"/>
                <a:cs typeface="Arial MT"/>
              </a:rPr>
              <a:t>=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100" dirty="0">
                <a:latin typeface="Arial MT"/>
                <a:cs typeface="Arial MT"/>
              </a:rPr>
              <a:t>df.dropna(suDset-</a:t>
            </a:r>
            <a:r>
              <a:rPr sz="2200" spc="75" dirty="0">
                <a:latin typeface="Arial MT"/>
                <a:cs typeface="Arial MT"/>
              </a:rPr>
              <a:t>['user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130" dirty="0">
                <a:latin typeface="Arial MT"/>
                <a:cs typeface="Arial MT"/>
              </a:rPr>
              <a:t>session']) </a:t>
            </a:r>
            <a:r>
              <a:rPr sz="2200" spc="-10" dirty="0">
                <a:latin typeface="Arial MT"/>
                <a:cs typeface="Arial MT"/>
              </a:rPr>
              <a:t>unique_sessions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0" dirty="0">
                <a:latin typeface="Arial MT"/>
                <a:cs typeface="Arial MT"/>
              </a:rPr>
              <a:t>=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125" dirty="0">
                <a:latin typeface="Arial MT"/>
                <a:cs typeface="Arial MT"/>
              </a:rPr>
              <a:t>df['user_session'].unique()[:5000]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500" y="3683000"/>
            <a:ext cx="2628900" cy="114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7900" y="3683000"/>
            <a:ext cx="2870200" cy="114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90200" y="3683000"/>
            <a:ext cx="2895600" cy="127000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549636"/>
              </p:ext>
            </p:extLst>
          </p:nvPr>
        </p:nvGraphicFramePr>
        <p:xfrm>
          <a:off x="880791" y="3653155"/>
          <a:ext cx="15633700" cy="3040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12700">
                      <a:solidFill>
                        <a:srgbClr val="0F48C3"/>
                      </a:solidFill>
                      <a:prstDash val="solid"/>
                    </a:lnT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38100">
                      <a:solidFill>
                        <a:srgbClr val="0048EB"/>
                      </a:solidFill>
                      <a:prstDash val="solid"/>
                    </a:lnT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38100">
                      <a:solidFill>
                        <a:srgbClr val="0048EB"/>
                      </a:solidFill>
                      <a:prstDash val="solid"/>
                    </a:lnT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38100">
                      <a:solidFill>
                        <a:srgbClr val="0048EB"/>
                      </a:solidFill>
                      <a:prstDash val="solid"/>
                    </a:lnT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38100">
                      <a:solidFill>
                        <a:srgbClr val="0048EB"/>
                      </a:solidFill>
                      <a:prstDash val="solid"/>
                    </a:lnT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 gridSpan="2"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2180"/>
                        </a:spcBef>
                      </a:pPr>
                      <a:r>
                        <a:rPr sz="2750" spc="-65" dirty="0">
                          <a:latin typeface="Arial MT"/>
                          <a:cs typeface="Arial MT"/>
                        </a:rPr>
                        <a:t>1.</a:t>
                      </a:r>
                      <a:r>
                        <a:rPr sz="2750" spc="-3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750" spc="80" dirty="0">
                          <a:latin typeface="Arial MT"/>
                          <a:cs typeface="Arial MT"/>
                        </a:rPr>
                        <a:t>Ingestion</a:t>
                      </a:r>
                      <a:endParaRPr sz="2750">
                        <a:latin typeface="Arial MT"/>
                        <a:cs typeface="Arial MT"/>
                      </a:endParaRPr>
                    </a:p>
                  </a:txBody>
                  <a:tcPr marL="0" marR="0" marT="276860" marB="0">
                    <a:lnL w="12700">
                      <a:solidFill>
                        <a:srgbClr val="0F48C3"/>
                      </a:solidFill>
                      <a:prstDash val="solid"/>
                    </a:lnL>
                    <a:lnT w="12700">
                      <a:solidFill>
                        <a:srgbClr val="0F48C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50" spc="5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sz="2850" spc="-3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50" spc="-10" dirty="0">
                          <a:latin typeface="Arial MT"/>
                          <a:cs typeface="Arial MT"/>
                        </a:rPr>
                        <a:t>Discovery</a:t>
                      </a:r>
                      <a:endParaRPr sz="2850">
                        <a:latin typeface="Arial MT"/>
                        <a:cs typeface="Arial MT"/>
                      </a:endParaRPr>
                    </a:p>
                  </a:txBody>
                  <a:tcPr marL="0" marR="0" marT="264160" marB="0">
                    <a:lnR w="12700">
                      <a:solidFill>
                        <a:srgbClr val="0F48C3"/>
                      </a:solidFill>
                      <a:prstDash val="solid"/>
                    </a:lnR>
                    <a:lnT w="12700">
                      <a:solidFill>
                        <a:srgbClr val="0F48C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50" spc="80" dirty="0">
                          <a:latin typeface="Arial MT"/>
                          <a:cs typeface="Arial MT"/>
                        </a:rPr>
                        <a:t>3.</a:t>
                      </a:r>
                      <a:r>
                        <a:rPr sz="2850" spc="-3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50" spc="-10" dirty="0">
                          <a:latin typeface="Arial MT"/>
                          <a:cs typeface="Arial MT"/>
                        </a:rPr>
                        <a:t>Evaluation</a:t>
                      </a:r>
                      <a:endParaRPr sz="2850">
                        <a:latin typeface="Arial MT"/>
                        <a:cs typeface="Arial MT"/>
                      </a:endParaRPr>
                    </a:p>
                  </a:txBody>
                  <a:tcPr marL="0" marR="0" marT="26416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12700">
                      <a:solidFill>
                        <a:srgbClr val="0F48C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50" spc="80" dirty="0">
                          <a:latin typeface="Arial MT"/>
                          <a:cs typeface="Arial MT"/>
                        </a:rPr>
                        <a:t>4.</a:t>
                      </a:r>
                      <a:r>
                        <a:rPr sz="2850" spc="-3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50" spc="-10" dirty="0">
                          <a:latin typeface="Arial MT"/>
                          <a:cs typeface="Arial MT"/>
                        </a:rPr>
                        <a:t>Intelligence</a:t>
                      </a:r>
                      <a:endParaRPr sz="2850" dirty="0">
                        <a:latin typeface="Arial MT"/>
                        <a:cs typeface="Arial MT"/>
                      </a:endParaRPr>
                    </a:p>
                  </a:txBody>
                  <a:tcPr marL="0" marR="0" marT="26416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12700">
                      <a:solidFill>
                        <a:srgbClr val="0F48C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850" spc="-105" dirty="0">
                          <a:latin typeface="Arial MT"/>
                          <a:cs typeface="Arial MT"/>
                        </a:rPr>
                        <a:t>S.</a:t>
                      </a:r>
                      <a:r>
                        <a:rPr sz="2850" spc="-2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50" spc="-10" dirty="0">
                          <a:latin typeface="Arial MT"/>
                          <a:cs typeface="Arial MT"/>
                        </a:rPr>
                        <a:t>Visualization</a:t>
                      </a:r>
                      <a:endParaRPr sz="2850" dirty="0">
                        <a:latin typeface="Arial MT"/>
                        <a:cs typeface="Arial MT"/>
                      </a:endParaRPr>
                    </a:p>
                  </a:txBody>
                  <a:tcPr marL="0" marR="0" marT="26416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T w="12700">
                      <a:solidFill>
                        <a:srgbClr val="0F48C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744">
                <a:tc gridSpan="2">
                  <a:txBody>
                    <a:bodyPr/>
                    <a:lstStyle/>
                    <a:p>
                      <a:pPr marL="276860" marR="759460" indent="2540">
                        <a:lnSpc>
                          <a:spcPts val="2650"/>
                        </a:lnSpc>
                        <a:spcBef>
                          <a:spcPts val="1535"/>
                        </a:spcBef>
                      </a:pPr>
                      <a:r>
                        <a:rPr sz="2300" dirty="0">
                          <a:latin typeface="Arial MT"/>
                          <a:cs typeface="Arial MT"/>
                        </a:rPr>
                        <a:t>Pandas</a:t>
                      </a:r>
                      <a:r>
                        <a:rPr sz="2300" spc="-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latin typeface="Arial MT"/>
                          <a:cs typeface="Arial MT"/>
                        </a:rPr>
                        <a:t>Cleaning </a:t>
                      </a:r>
                      <a:r>
                        <a:rPr sz="230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23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latin typeface="Arial MT"/>
                          <a:cs typeface="Arial MT"/>
                        </a:rPr>
                        <a:t>Sorting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194945" marB="0">
                    <a:lnL w="12700">
                      <a:solidFill>
                        <a:srgbClr val="0F48C3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5425" marR="447040" indent="-5080">
                        <a:lnSpc>
                          <a:spcPts val="2650"/>
                        </a:lnSpc>
                        <a:spcBef>
                          <a:spcPts val="1535"/>
                        </a:spcBef>
                      </a:pPr>
                      <a:r>
                        <a:rPr sz="2300" spc="-30" dirty="0">
                          <a:latin typeface="Arial MT"/>
                          <a:cs typeface="Arial MT"/>
                        </a:rPr>
                        <a:t>PM4PY</a:t>
                      </a:r>
                      <a:r>
                        <a:rPr sz="23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latin typeface="Arial MT"/>
                          <a:cs typeface="Arial MT"/>
                        </a:rPr>
                        <a:t>Algorithms </a:t>
                      </a:r>
                      <a:r>
                        <a:rPr sz="2300" dirty="0">
                          <a:latin typeface="Arial MT"/>
                          <a:cs typeface="Arial MT"/>
                        </a:rPr>
                        <a:t>(Alpha,</a:t>
                      </a:r>
                      <a:r>
                        <a:rPr sz="2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latin typeface="Arial MT"/>
                          <a:cs typeface="Arial MT"/>
                        </a:rPr>
                        <a:t>Heuristic,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194945" marB="0"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ts val="2900"/>
                        </a:lnSpc>
                        <a:spcBef>
                          <a:spcPts val="1230"/>
                        </a:spcBef>
                      </a:pPr>
                      <a:r>
                        <a:rPr sz="2500" spc="-100" dirty="0">
                          <a:latin typeface="Arial MT"/>
                          <a:cs typeface="Arial MT"/>
                        </a:rPr>
                        <a:t>Calc</a:t>
                      </a:r>
                      <a:r>
                        <a:rPr lang="it-IT" sz="2500" spc="-10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2500" spc="-100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lang="it-IT" sz="2500" spc="-100" dirty="0" err="1">
                          <a:latin typeface="Arial MT"/>
                          <a:cs typeface="Arial MT"/>
                        </a:rPr>
                        <a:t>ation</a:t>
                      </a:r>
                      <a:r>
                        <a:rPr sz="25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500" spc="-10" dirty="0">
                          <a:latin typeface="Arial MT"/>
                          <a:cs typeface="Arial MT"/>
                        </a:rPr>
                        <a:t>Fitness</a:t>
                      </a:r>
                      <a:endParaRPr sz="2500" dirty="0">
                        <a:latin typeface="Arial MT"/>
                        <a:cs typeface="Arial MT"/>
                      </a:endParaRPr>
                    </a:p>
                    <a:p>
                      <a:pPr marL="279400">
                        <a:lnSpc>
                          <a:spcPts val="2705"/>
                        </a:lnSpc>
                      </a:pPr>
                      <a:r>
                        <a:rPr sz="2350" spc="-10" dirty="0">
                          <a:latin typeface="Arial MT"/>
                          <a:cs typeface="Arial MT"/>
                        </a:rPr>
                        <a:t>Precision</a:t>
                      </a:r>
                      <a:endParaRPr sz="2350" dirty="0">
                        <a:latin typeface="Arial MT"/>
                        <a:cs typeface="Arial MT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7180" marR="647700" indent="-23495">
                        <a:lnSpc>
                          <a:spcPts val="2650"/>
                        </a:lnSpc>
                        <a:spcBef>
                          <a:spcPts val="1535"/>
                        </a:spcBef>
                      </a:pPr>
                      <a:r>
                        <a:rPr sz="2300" dirty="0">
                          <a:latin typeface="Arial MT"/>
                          <a:cs typeface="Arial MT"/>
                        </a:rPr>
                        <a:t>GenAl</a:t>
                      </a:r>
                      <a:r>
                        <a:rPr sz="2300" spc="-1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30" dirty="0">
                          <a:latin typeface="Arial MT"/>
                          <a:cs typeface="Arial MT"/>
                        </a:rPr>
                        <a:t>Reasoning </a:t>
                      </a:r>
                      <a:r>
                        <a:rPr sz="2300" spc="-20" dirty="0">
                          <a:latin typeface="Arial MT"/>
                          <a:cs typeface="Arial MT"/>
                        </a:rPr>
                        <a:t>(Llama</a:t>
                      </a:r>
                      <a:r>
                        <a:rPr sz="23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25" dirty="0">
                          <a:latin typeface="Arial MT"/>
                          <a:cs typeface="Arial MT"/>
                        </a:rPr>
                        <a:t>3)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194945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2735" marR="1198245" indent="-3810">
                        <a:lnSpc>
                          <a:spcPts val="2700"/>
                        </a:lnSpc>
                        <a:spcBef>
                          <a:spcPts val="1435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Streamlit </a:t>
                      </a:r>
                      <a:r>
                        <a:rPr sz="2300" spc="-25" dirty="0">
                          <a:latin typeface="Arial MT"/>
                          <a:cs typeface="Arial MT"/>
                        </a:rPr>
                        <a:t>Dashboard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ts val="2555"/>
                        </a:lnSpc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Inductive)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 gridSpan="2"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300" spc="-85" dirty="0" err="1">
                          <a:latin typeface="Arial MT"/>
                          <a:cs typeface="Arial MT"/>
                        </a:rPr>
                        <a:t>preProcess</a:t>
                      </a:r>
                      <a:r>
                        <a:rPr lang="it-IT" sz="2300" spc="-8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2300" spc="-85" dirty="0">
                          <a:latin typeface="Arial MT"/>
                          <a:cs typeface="Arial MT"/>
                        </a:rPr>
                        <a:t>ng</a:t>
                      </a:r>
                      <a:r>
                        <a:rPr sz="23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2300" spc="-25" dirty="0">
                          <a:latin typeface="Arial MT"/>
                          <a:cs typeface="Arial MT"/>
                        </a:rPr>
                        <a:t>py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F48C3"/>
                      </a:solidFill>
                      <a:prstDash val="solid"/>
                    </a:lnL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300" spc="-65" dirty="0" err="1">
                          <a:latin typeface="Arial MT"/>
                          <a:cs typeface="Arial MT"/>
                        </a:rPr>
                        <a:t>processD</a:t>
                      </a:r>
                      <a:r>
                        <a:rPr lang="it-IT" sz="2300" spc="-6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2300" spc="-65" dirty="0" err="1">
                          <a:latin typeface="Arial MT"/>
                          <a:cs typeface="Arial MT"/>
                        </a:rPr>
                        <a:t>scovery</a:t>
                      </a:r>
                      <a:r>
                        <a:rPr lang="it-IT" sz="2300" spc="-65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lang="it-IT" sz="2300" spc="-65" dirty="0" err="1">
                          <a:latin typeface="Arial MT"/>
                          <a:cs typeface="Arial MT"/>
                        </a:rPr>
                        <a:t>py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R w="12700">
                      <a:solidFill>
                        <a:srgbClr val="0F48C3"/>
                      </a:solidFill>
                      <a:prstDash val="solid"/>
                    </a:lnR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495"/>
                        </a:spcBef>
                        <a:tabLst>
                          <a:tab pos="1379855" algn="l"/>
                        </a:tabLst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Metrics</a:t>
                      </a:r>
                      <a:r>
                        <a:rPr lang="it-IT" sz="23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latin typeface="Arial MT"/>
                          <a:cs typeface="Arial MT"/>
                        </a:rPr>
                        <a:t>Calculation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300" spc="-10" dirty="0">
                          <a:latin typeface="Arial MT"/>
                          <a:cs typeface="Arial MT"/>
                        </a:rPr>
                        <a:t>IImReasoning.py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95"/>
                        </a:spcBef>
                        <a:tabLst>
                          <a:tab pos="960755" algn="l"/>
                        </a:tabLst>
                      </a:pPr>
                      <a:r>
                        <a:rPr lang="it-IT" sz="2300" spc="-310" dirty="0">
                          <a:latin typeface="Arial MT"/>
                          <a:cs typeface="Arial MT"/>
                        </a:rPr>
                        <a:t>User  </a:t>
                      </a:r>
                      <a:r>
                        <a:rPr sz="2300" spc="40" dirty="0">
                          <a:latin typeface="Arial MT"/>
                          <a:cs typeface="Arial MT"/>
                        </a:rPr>
                        <a:t>Interface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F48C3"/>
                      </a:solidFill>
                      <a:prstDash val="solid"/>
                    </a:lnL>
                    <a:lnR w="12700">
                      <a:solidFill>
                        <a:srgbClr val="0F48C3"/>
                      </a:solidFill>
                      <a:prstDash val="solid"/>
                    </a:lnR>
                    <a:lnB w="12700">
                      <a:solidFill>
                        <a:srgbClr val="0F48C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203700" y="3769783"/>
            <a:ext cx="2811145" cy="0"/>
          </a:xfrm>
          <a:custGeom>
            <a:avLst/>
            <a:gdLst/>
            <a:ahLst/>
            <a:cxnLst/>
            <a:rect l="l" t="t" r="r" b="b"/>
            <a:pathLst>
              <a:path w="2811145">
                <a:moveTo>
                  <a:pt x="0" y="0"/>
                </a:moveTo>
                <a:lnTo>
                  <a:pt x="2810933" y="0"/>
                </a:lnTo>
              </a:path>
            </a:pathLst>
          </a:custGeom>
          <a:ln w="29633">
            <a:solidFill>
              <a:srgbClr val="0048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80791" y="519641"/>
            <a:ext cx="10624820" cy="21679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8370"/>
              </a:lnSpc>
              <a:spcBef>
                <a:spcPts val="105"/>
              </a:spcBef>
            </a:pPr>
            <a:r>
              <a:rPr lang="en-US" sz="7700" spc="-140" dirty="0"/>
              <a:t>The System Architecture:</a:t>
            </a:r>
            <a:br>
              <a:rPr lang="en-US" sz="7700" spc="-140" dirty="0"/>
            </a:br>
            <a:r>
              <a:rPr lang="en-US" sz="7700" spc="-140" dirty="0"/>
              <a:t>From Logs to Dashboard</a:t>
            </a:r>
            <a:endParaRPr sz="7300" dirty="0"/>
          </a:p>
        </p:txBody>
      </p:sp>
      <p:sp>
        <p:nvSpPr>
          <p:cNvPr id="14" name="object 14"/>
          <p:cNvSpPr txBox="1"/>
          <p:nvPr/>
        </p:nvSpPr>
        <p:spPr>
          <a:xfrm>
            <a:off x="890355" y="7825669"/>
            <a:ext cx="1543050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650" spc="-20" dirty="0">
                <a:latin typeface="Arial MT"/>
                <a:cs typeface="Arial MT"/>
              </a:rPr>
              <a:t>An automated flow that powers Business Intelligence in real time.</a:t>
            </a:r>
            <a:endParaRPr sz="3650" dirty="0">
              <a:latin typeface="Arial MT"/>
              <a:cs typeface="Arial MT"/>
            </a:endParaRPr>
          </a:p>
        </p:txBody>
      </p:sp>
      <p:pic>
        <p:nvPicPr>
          <p:cNvPr id="20" name="object 7">
            <a:extLst>
              <a:ext uri="{FF2B5EF4-FFF2-40B4-BE49-F238E27FC236}">
                <a16:creationId xmlns:a16="http://schemas.microsoft.com/office/drawing/2014/main" id="{157482C6-9252-A66C-1799-3E1B595432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26855" y="3653155"/>
            <a:ext cx="2895600" cy="127000"/>
          </a:xfrm>
          <a:prstGeom prst="rect">
            <a:avLst/>
          </a:prstGeom>
        </p:spPr>
      </p:pic>
      <p:pic>
        <p:nvPicPr>
          <p:cNvPr id="21" name="object 7">
            <a:extLst>
              <a:ext uri="{FF2B5EF4-FFF2-40B4-BE49-F238E27FC236}">
                <a16:creationId xmlns:a16="http://schemas.microsoft.com/office/drawing/2014/main" id="{374F2604-B90A-F459-CDB8-72D630489F1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8455" y="3653155"/>
            <a:ext cx="2895600" cy="127000"/>
          </a:xfrm>
          <a:prstGeom prst="rect">
            <a:avLst/>
          </a:prstGeom>
        </p:spPr>
      </p:pic>
      <p:sp>
        <p:nvSpPr>
          <p:cNvPr id="23" name="Freccia a destra 22">
            <a:extLst>
              <a:ext uri="{FF2B5EF4-FFF2-40B4-BE49-F238E27FC236}">
                <a16:creationId xmlns:a16="http://schemas.microsoft.com/office/drawing/2014/main" id="{E43438FF-CCBB-6F81-BD35-1FBEFC2FAFEF}"/>
              </a:ext>
            </a:extLst>
          </p:cNvPr>
          <p:cNvSpPr/>
          <p:nvPr/>
        </p:nvSpPr>
        <p:spPr>
          <a:xfrm>
            <a:off x="3556000" y="4953000"/>
            <a:ext cx="592455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C56B52F3-9BC7-7DBE-A825-3DA4590CABD4}"/>
              </a:ext>
            </a:extLst>
          </p:cNvPr>
          <p:cNvSpPr/>
          <p:nvPr/>
        </p:nvSpPr>
        <p:spPr>
          <a:xfrm>
            <a:off x="6950664" y="4865255"/>
            <a:ext cx="592455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FFB8B821-3B32-3E77-64A5-0B93F4C3CE64}"/>
              </a:ext>
            </a:extLst>
          </p:cNvPr>
          <p:cNvSpPr/>
          <p:nvPr/>
        </p:nvSpPr>
        <p:spPr>
          <a:xfrm>
            <a:off x="10035245" y="4897582"/>
            <a:ext cx="592455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E32FE8EC-D365-109B-C3E7-F8E470DA39CD}"/>
              </a:ext>
            </a:extLst>
          </p:cNvPr>
          <p:cNvSpPr/>
          <p:nvPr/>
        </p:nvSpPr>
        <p:spPr>
          <a:xfrm>
            <a:off x="13230627" y="4986395"/>
            <a:ext cx="592455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F4B00286-A367-5910-4D69-BA16D21E509E}"/>
              </a:ext>
            </a:extLst>
          </p:cNvPr>
          <p:cNvCxnSpPr/>
          <p:nvPr/>
        </p:nvCxnSpPr>
        <p:spPr>
          <a:xfrm>
            <a:off x="3852227" y="3810000"/>
            <a:ext cx="0" cy="2846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4301" y="711905"/>
            <a:ext cx="15533369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sz="5700" spc="55" dirty="0"/>
              <a:t>Struttura del Dataset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5268" y="2057400"/>
            <a:ext cx="16324331" cy="6214522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3650" b="1" i="0" u="none" strike="noStrike" cap="none" spc="7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 </a:t>
            </a:r>
            <a:r>
              <a:rPr kumimoji="0" lang="it-IT" altLang="it-IT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event_time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Precise timestamp of the event (UTC format).</a:t>
            </a:r>
            <a:endParaRPr kumimoji="0" lang="it-IT" altLang="it-IT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event_type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action performed by the user 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it-IT" altLang="it-IT" sz="4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it-IT" altLang="it-IT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4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</a:t>
            </a:r>
            <a:r>
              <a:rPr kumimoji="0" lang="it-IT" altLang="it-IT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4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product_id</a:t>
            </a:r>
            <a:r>
              <a:rPr kumimoji="0" lang="it-IT" altLang="it-IT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brand / price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data of the interacted product (ID, brand and price)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category_code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category (e.g. </a:t>
            </a:r>
            <a:r>
              <a:rPr kumimoji="0" lang="en-US" altLang="it-IT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electronics.smartphone</a:t>
            </a:r>
            <a:r>
              <a:rPr kumimoji="0" lang="en-US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essential for segment analysis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customer identifier for long-term tracking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user_session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session ID; fundamental for mapping the purchasing path (customer journey</a:t>
            </a:r>
            <a:r>
              <a:rPr kumimoji="0" lang="it-IT" altLang="it-IT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341630" marR="650240" indent="-328930">
              <a:lnSpc>
                <a:spcPts val="3900"/>
              </a:lnSpc>
              <a:spcBef>
                <a:spcPts val="660"/>
              </a:spcBef>
              <a:buChar char="•"/>
              <a:tabLst>
                <a:tab pos="363220" algn="l"/>
              </a:tabLst>
            </a:pPr>
            <a:endParaRPr sz="36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9400" y="2730500"/>
            <a:ext cx="9207500" cy="5422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4301" y="711905"/>
            <a:ext cx="15533369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700" spc="55" dirty="0"/>
              <a:t>Discovery Algorithm 1: Alpha Miner</a:t>
            </a:r>
            <a:endParaRPr sz="5700" dirty="0"/>
          </a:p>
        </p:txBody>
      </p:sp>
      <p:sp>
        <p:nvSpPr>
          <p:cNvPr id="4" name="object 4"/>
          <p:cNvSpPr txBox="1"/>
          <p:nvPr/>
        </p:nvSpPr>
        <p:spPr>
          <a:xfrm>
            <a:off x="744301" y="2523419"/>
            <a:ext cx="7536099" cy="585544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41630" marR="650240" indent="-328930">
              <a:lnSpc>
                <a:spcPts val="3900"/>
              </a:lnSpc>
              <a:spcBef>
                <a:spcPts val="660"/>
              </a:spcBef>
              <a:buChar char="•"/>
              <a:tabLst>
                <a:tab pos="363220" algn="l"/>
              </a:tabLst>
            </a:pPr>
            <a:r>
              <a:rPr lang="en-US" sz="3650" spc="70" dirty="0">
                <a:latin typeface="Arial MT"/>
                <a:cs typeface="Arial MT"/>
              </a:rPr>
              <a:t>Operation: Based on direct causal relationships (A follows B).</a:t>
            </a:r>
          </a:p>
          <a:p>
            <a:pPr marL="341630" marR="650240" indent="-328930">
              <a:lnSpc>
                <a:spcPts val="3900"/>
              </a:lnSpc>
              <a:spcBef>
                <a:spcPts val="660"/>
              </a:spcBef>
              <a:buChar char="•"/>
              <a:tabLst>
                <a:tab pos="363220" algn="l"/>
              </a:tabLst>
            </a:pPr>
            <a:r>
              <a:rPr lang="en-US" sz="3650" spc="70" dirty="0">
                <a:latin typeface="Arial MT"/>
                <a:cs typeface="Arial MT"/>
              </a:rPr>
              <a:t>Result: A clean but schematic Petri net.</a:t>
            </a:r>
          </a:p>
          <a:p>
            <a:pPr marL="341630" marR="650240" indent="-328930">
              <a:lnSpc>
                <a:spcPts val="3900"/>
              </a:lnSpc>
              <a:spcBef>
                <a:spcPts val="660"/>
              </a:spcBef>
              <a:buChar char="•"/>
              <a:tabLst>
                <a:tab pos="363220" algn="l"/>
              </a:tabLst>
            </a:pPr>
            <a:r>
              <a:rPr lang="en-US" sz="3650" spc="70" dirty="0">
                <a:latin typeface="Arial MT"/>
                <a:cs typeface="Arial MT"/>
              </a:rPr>
              <a:t>Limitation: Struggles to handle complex loops and real data noise, sometimes creating connections that are too rigid.</a:t>
            </a:r>
          </a:p>
          <a:p>
            <a:pPr marL="341630" marR="650240" indent="-328930">
              <a:lnSpc>
                <a:spcPts val="3900"/>
              </a:lnSpc>
              <a:spcBef>
                <a:spcPts val="660"/>
              </a:spcBef>
              <a:buChar char="•"/>
              <a:tabLst>
                <a:tab pos="363220" algn="l"/>
              </a:tabLst>
            </a:pPr>
            <a:r>
              <a:rPr lang="en-US" sz="3650" spc="70" dirty="0">
                <a:latin typeface="Arial MT"/>
                <a:cs typeface="Arial MT"/>
              </a:rPr>
              <a:t>Metric: Low Fitness on complex logs.</a:t>
            </a:r>
            <a:endParaRPr sz="36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45839" y="3150658"/>
            <a:ext cx="155702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70" dirty="0">
                <a:latin typeface="Times New Roman"/>
                <a:cs typeface="Times New Roman"/>
              </a:rPr>
              <a:t>purchase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96094" y="7135989"/>
            <a:ext cx="85471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105" dirty="0">
                <a:latin typeface="Times New Roman"/>
                <a:cs typeface="Times New Roman"/>
              </a:rPr>
              <a:t>view</a:t>
            </a:r>
            <a:endParaRPr sz="3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091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904021" y="1679686"/>
            <a:ext cx="7616825" cy="4334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72110" marR="5080" indent="-359410">
              <a:lnSpc>
                <a:spcPct val="97000"/>
              </a:lnSpc>
              <a:spcBef>
                <a:spcPts val="204"/>
              </a:spcBef>
              <a:buChar char="•"/>
              <a:tabLst>
                <a:tab pos="388620" algn="l"/>
              </a:tabLst>
            </a:pPr>
            <a:r>
              <a:rPr lang="en-US" sz="4100" spc="50" dirty="0">
                <a:latin typeface="Arial MT"/>
                <a:cs typeface="Arial MT"/>
              </a:rPr>
              <a:t>Innovation: Use frequency thresholds to ignore rare paths (noise).</a:t>
            </a:r>
          </a:p>
          <a:p>
            <a:pPr marL="372110" marR="5080" indent="-359410">
              <a:lnSpc>
                <a:spcPct val="97000"/>
              </a:lnSpc>
              <a:spcBef>
                <a:spcPts val="204"/>
              </a:spcBef>
              <a:buChar char="•"/>
              <a:tabLst>
                <a:tab pos="388620" algn="l"/>
              </a:tabLst>
            </a:pPr>
            <a:r>
              <a:rPr lang="en-US" sz="4100" spc="50" dirty="0">
                <a:latin typeface="Arial MT"/>
                <a:cs typeface="Arial MT"/>
              </a:rPr>
              <a:t>Insight: Observe the weights on the arcs. The system does not just map the possible, but the probable</a:t>
            </a:r>
            <a:r>
              <a:rPr sz="4150" spc="-50" dirty="0">
                <a:latin typeface="Arial MT"/>
                <a:cs typeface="Arial MT"/>
              </a:rPr>
              <a:t>.</a:t>
            </a:r>
            <a:endParaRPr sz="41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44231" y="1817106"/>
            <a:ext cx="7489825" cy="18870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4815"/>
              </a:lnSpc>
              <a:spcBef>
                <a:spcPts val="114"/>
              </a:spcBef>
            </a:pPr>
            <a:r>
              <a:rPr lang="en-US" sz="4400" spc="50" dirty="0">
                <a:latin typeface="Arial MT"/>
                <a:cs typeface="Arial MT"/>
              </a:rPr>
              <a:t>Advantage: Representation</a:t>
            </a:r>
          </a:p>
          <a:p>
            <a:pPr marL="12700">
              <a:lnSpc>
                <a:spcPts val="4815"/>
              </a:lnSpc>
              <a:spcBef>
                <a:spcPts val="114"/>
              </a:spcBef>
            </a:pPr>
            <a:r>
              <a:rPr lang="en-US" sz="4400" spc="50" dirty="0">
                <a:latin typeface="Arial MT"/>
                <a:cs typeface="Arial MT"/>
              </a:rPr>
              <a:t>more realistic behavior</a:t>
            </a:r>
          </a:p>
          <a:p>
            <a:pPr marL="12700">
              <a:lnSpc>
                <a:spcPts val="4815"/>
              </a:lnSpc>
              <a:spcBef>
                <a:spcPts val="114"/>
              </a:spcBef>
            </a:pPr>
            <a:r>
              <a:rPr lang="en-US" sz="4400" spc="50" dirty="0">
                <a:latin typeface="Arial MT"/>
                <a:cs typeface="Arial MT"/>
              </a:rPr>
              <a:t>mass.</a:t>
            </a:r>
            <a:endParaRPr sz="4200" dirty="0">
              <a:latin typeface="Arial MT"/>
              <a:cs typeface="Arial MT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2AA376C2-FB00-F5C0-76A8-9D14C71B82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021" y="598341"/>
            <a:ext cx="15533369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700" spc="55" dirty="0"/>
              <a:t>Discovery</a:t>
            </a:r>
            <a:r>
              <a:rPr sz="5700" spc="260" dirty="0"/>
              <a:t> </a:t>
            </a:r>
            <a:r>
              <a:rPr sz="5700" spc="125" dirty="0" err="1"/>
              <a:t>Algoritmo</a:t>
            </a:r>
            <a:r>
              <a:rPr sz="5700" spc="-365" dirty="0"/>
              <a:t> </a:t>
            </a:r>
            <a:r>
              <a:rPr lang="it-IT" sz="5700" spc="-35" dirty="0"/>
              <a:t>2</a:t>
            </a:r>
            <a:r>
              <a:rPr sz="5700" spc="125" dirty="0"/>
              <a:t>: </a:t>
            </a:r>
            <a:r>
              <a:rPr lang="it-IT" sz="5700" spc="125" dirty="0" err="1"/>
              <a:t>Heuristic</a:t>
            </a:r>
            <a:r>
              <a:rPr lang="it-IT" sz="5700" spc="125" dirty="0"/>
              <a:t> </a:t>
            </a:r>
            <a:r>
              <a:rPr lang="it-IT" sz="5700" spc="125" dirty="0" err="1"/>
              <a:t>Miner</a:t>
            </a:r>
            <a:r>
              <a:rPr lang="it-IT" sz="5700" spc="125" dirty="0"/>
              <a:t> </a:t>
            </a:r>
            <a:endParaRPr sz="5700" spc="125" dirty="0"/>
          </a:p>
        </p:txBody>
      </p:sp>
      <p:pic>
        <p:nvPicPr>
          <p:cNvPr id="19" name="Immagine 18" descr="Immagine che contiene diagramma, linea, bianco, schizzo&#10;&#10;Il contenuto generato dall'IA potrebbe non essere corretto.">
            <a:extLst>
              <a:ext uri="{FF2B5EF4-FFF2-40B4-BE49-F238E27FC236}">
                <a16:creationId xmlns:a16="http://schemas.microsoft.com/office/drawing/2014/main" id="{1FDB5F93-3755-910D-7AAB-02370B846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528" y="6014271"/>
            <a:ext cx="13537148" cy="3353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6169" y="201436"/>
            <a:ext cx="15735935" cy="8912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00" spc="55" dirty="0"/>
              <a:t>Discovery Algoritmo 3: Inductive Miner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6169" y="1350120"/>
            <a:ext cx="6512699" cy="318677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6034" marR="5080" indent="-6985" algn="just">
              <a:lnSpc>
                <a:spcPts val="3900"/>
              </a:lnSpc>
              <a:spcBef>
                <a:spcPts val="450"/>
              </a:spcBef>
            </a:pPr>
            <a:r>
              <a:rPr lang="en-US" sz="3450" dirty="0">
                <a:latin typeface="Arial MT"/>
                <a:cs typeface="Arial MT"/>
              </a:rPr>
              <a:t>Approach: Divide and Conquer via Process Trees.</a:t>
            </a:r>
          </a:p>
          <a:p>
            <a:pPr marL="26034" marR="5080" indent="-6985" algn="just">
              <a:lnSpc>
                <a:spcPts val="3900"/>
              </a:lnSpc>
              <a:spcBef>
                <a:spcPts val="450"/>
              </a:spcBef>
            </a:pPr>
            <a:endParaRPr lang="en-US" sz="3450" dirty="0">
              <a:latin typeface="Arial MT"/>
              <a:cs typeface="Arial MT"/>
            </a:endParaRPr>
          </a:p>
          <a:p>
            <a:pPr marL="26034" marR="5080" indent="-6985" algn="just">
              <a:lnSpc>
                <a:spcPts val="3900"/>
              </a:lnSpc>
              <a:spcBef>
                <a:spcPts val="450"/>
              </a:spcBef>
            </a:pPr>
            <a:r>
              <a:rPr lang="en-US" sz="3450" dirty="0">
                <a:latin typeface="Arial MT"/>
                <a:cs typeface="Arial MT"/>
              </a:rPr>
              <a:t>Structure: Uses logical  operators (XOR, AND, LOOP) to segment the stream.</a:t>
            </a:r>
            <a:endParaRPr sz="3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169" y="4794305"/>
            <a:ext cx="5359400" cy="401520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8415" marR="5080" indent="-6350">
              <a:lnSpc>
                <a:spcPct val="94400"/>
              </a:lnSpc>
              <a:spcBef>
                <a:spcPts val="330"/>
              </a:spcBef>
            </a:pPr>
            <a:r>
              <a:rPr lang="en-US" sz="3400" dirty="0">
                <a:latin typeface="Arial MT"/>
                <a:cs typeface="Arial MT"/>
              </a:rPr>
              <a:t>Guarantee: Always produces 'sound' models (no logical dead ends or deadlocks).</a:t>
            </a:r>
            <a:br>
              <a:rPr lang="en-US" sz="3400" dirty="0">
                <a:latin typeface="Arial MT"/>
                <a:cs typeface="Arial MT"/>
              </a:rPr>
            </a:br>
            <a:endParaRPr lang="en-US" sz="3400" dirty="0">
              <a:latin typeface="Arial MT"/>
              <a:cs typeface="Arial MT"/>
            </a:endParaRPr>
          </a:p>
          <a:p>
            <a:pPr marL="18415" marR="5080" indent="-6350">
              <a:lnSpc>
                <a:spcPct val="94400"/>
              </a:lnSpc>
              <a:spcBef>
                <a:spcPts val="330"/>
              </a:spcBef>
            </a:pPr>
            <a:r>
              <a:rPr lang="en-US" sz="3400" dirty="0">
                <a:latin typeface="Arial MT"/>
                <a:cs typeface="Arial MT"/>
              </a:rPr>
              <a:t>Detail: Note the "</a:t>
            </a:r>
            <a:r>
              <a:rPr lang="en-US" sz="3400" dirty="0" err="1">
                <a:latin typeface="Arial MT"/>
                <a:cs typeface="Arial MT"/>
              </a:rPr>
              <a:t>xor</a:t>
            </a:r>
            <a:r>
              <a:rPr lang="en-US" sz="3400" dirty="0">
                <a:latin typeface="Arial MT"/>
                <a:cs typeface="Arial MT"/>
              </a:rPr>
              <a:t> loop" nodes that allow controlled repetition of activities.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14" name="Immagine 13" descr="Immagine che contiene schizzo, diagramma, disegno, bianco&#10;&#10;Il contenuto generato dall'IA potrebbe non essere corretto.">
            <a:extLst>
              <a:ext uri="{FF2B5EF4-FFF2-40B4-BE49-F238E27FC236}">
                <a16:creationId xmlns:a16="http://schemas.microsoft.com/office/drawing/2014/main" id="{321EEFB2-BB38-4659-E887-348727006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90" y="2481943"/>
            <a:ext cx="10061438" cy="4717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211" y="467430"/>
            <a:ext cx="16047085" cy="9886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300" dirty="0">
                <a:latin typeface="Arial MT"/>
                <a:cs typeface="Arial MT"/>
              </a:rPr>
              <a:t>Benchmarking:</a:t>
            </a:r>
            <a:r>
              <a:rPr sz="6300" spc="300" dirty="0">
                <a:latin typeface="Arial MT"/>
                <a:cs typeface="Arial MT"/>
              </a:rPr>
              <a:t> </a:t>
            </a:r>
            <a:r>
              <a:rPr lang="en-US" sz="6300" spc="-125" dirty="0">
                <a:latin typeface="Arial MT"/>
                <a:cs typeface="Arial MT"/>
              </a:rPr>
              <a:t>Which Model Tells the Truth</a:t>
            </a:r>
            <a:r>
              <a:rPr sz="6300" spc="-10" dirty="0">
                <a:latin typeface="Arial MT"/>
                <a:cs typeface="Arial MT"/>
              </a:rPr>
              <a:t>?</a:t>
            </a:r>
            <a:endParaRPr sz="63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5580" y="2306064"/>
            <a:ext cx="1755139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2950" spc="105" dirty="0" err="1">
                <a:latin typeface="Arial MT"/>
                <a:cs typeface="Arial MT"/>
              </a:rPr>
              <a:t>Algorithm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957" y="3310113"/>
            <a:ext cx="1996439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>
                <a:latin typeface="Arial MT"/>
                <a:cs typeface="Arial MT"/>
              </a:rPr>
              <a:t>Alpha</a:t>
            </a:r>
            <a:r>
              <a:rPr sz="2950" spc="-12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Miner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431" y="4224513"/>
            <a:ext cx="254444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>
                <a:latin typeface="Arial MT"/>
                <a:cs typeface="Arial MT"/>
              </a:rPr>
              <a:t>Heuristic</a:t>
            </a:r>
            <a:r>
              <a:rPr sz="2950" spc="19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Miner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6438" y="2471913"/>
            <a:ext cx="195770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40" dirty="0">
                <a:latin typeface="Arial MT"/>
                <a:cs typeface="Arial MT"/>
              </a:rPr>
              <a:t>(Aderenza)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3564" y="3345870"/>
            <a:ext cx="101346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2900" spc="-55" dirty="0">
                <a:latin typeface="Arial MT"/>
                <a:cs typeface="Arial MT"/>
              </a:rPr>
              <a:t>0,69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3564" y="4224513"/>
            <a:ext cx="1037590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sz="2850" spc="-20" dirty="0">
                <a:latin typeface="Arial MT"/>
                <a:cs typeface="Arial MT"/>
              </a:rPr>
              <a:t>0,99</a:t>
            </a:r>
            <a:endParaRPr sz="28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8540" y="5062713"/>
            <a:ext cx="258953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>
                <a:latin typeface="Arial MT"/>
                <a:cs typeface="Arial MT"/>
              </a:rPr>
              <a:t>lnductive</a:t>
            </a:r>
            <a:r>
              <a:rPr sz="2950" spc="33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Miner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9255" y="5062713"/>
            <a:ext cx="1723389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2950" dirty="0">
                <a:latin typeface="Arial MT"/>
                <a:cs typeface="Arial MT"/>
              </a:rPr>
              <a:t>1,00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3456" y="2060319"/>
            <a:ext cx="165290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10" dirty="0">
                <a:latin typeface="Arial MT"/>
                <a:cs typeface="Arial MT"/>
              </a:rPr>
              <a:t>Precision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15674" y="2018594"/>
            <a:ext cx="1976755" cy="9359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48895">
              <a:lnSpc>
                <a:spcPts val="3500"/>
              </a:lnSpc>
              <a:spcBef>
                <a:spcPts val="355"/>
              </a:spcBef>
            </a:pPr>
            <a:r>
              <a:rPr sz="3050" spc="65" dirty="0">
                <a:latin typeface="Arial MT"/>
                <a:cs typeface="Arial MT"/>
              </a:rPr>
              <a:t>Simplicity </a:t>
            </a:r>
            <a:r>
              <a:rPr sz="3050" spc="-10" dirty="0">
                <a:latin typeface="Arial MT"/>
                <a:cs typeface="Arial MT"/>
              </a:rPr>
              <a:t>Leggibilità)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86716" y="3345870"/>
            <a:ext cx="102743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2950" spc="-25" dirty="0">
                <a:latin typeface="Arial MT"/>
                <a:cs typeface="Arial MT"/>
              </a:rPr>
              <a:t>1,00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58948" y="4224513"/>
            <a:ext cx="103759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2950" spc="-10" dirty="0">
                <a:latin typeface="Arial MT"/>
                <a:cs typeface="Arial MT"/>
              </a:rPr>
              <a:t>0,92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36352" y="5055026"/>
            <a:ext cx="1128158" cy="4610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2900" spc="-20" dirty="0">
                <a:latin typeface="Arial MT"/>
                <a:cs typeface="Arial MT"/>
              </a:rPr>
              <a:t>0,90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16654" y="3281412"/>
            <a:ext cx="1338375" cy="47128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2950" spc="-20" dirty="0">
                <a:latin typeface="Arial MT"/>
                <a:cs typeface="Arial MT"/>
              </a:rPr>
              <a:t>0,0909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35610" y="3310113"/>
            <a:ext cx="282257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it-IT" sz="2950" dirty="0">
                <a:latin typeface="Arial MT"/>
                <a:cs typeface="Arial MT"/>
              </a:rPr>
              <a:t>Too Simple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16654" y="4219383"/>
            <a:ext cx="1314259" cy="4610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2900" spc="-20" dirty="0">
                <a:latin typeface="Arial MT"/>
                <a:cs typeface="Arial MT"/>
              </a:rPr>
              <a:t>0,0185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55093" y="4233333"/>
            <a:ext cx="401764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2900" dirty="0">
                <a:latin typeface="Arial MT"/>
                <a:cs typeface="Arial MT"/>
              </a:rPr>
              <a:t>Great for visual insights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16654" y="5055027"/>
            <a:ext cx="1338375" cy="4610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2900" spc="-10" dirty="0">
                <a:latin typeface="Arial MT"/>
                <a:cs typeface="Arial MT"/>
              </a:rPr>
              <a:t>0,0145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77205" y="5076871"/>
            <a:ext cx="428561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it-IT" sz="2900" dirty="0">
                <a:latin typeface="Arial MT"/>
                <a:cs typeface="Arial MT"/>
              </a:rPr>
              <a:t>Best for Automation</a:t>
            </a:r>
            <a:endParaRPr sz="2900" dirty="0">
              <a:latin typeface="Arial MT"/>
              <a:cs typeface="Arial MT"/>
            </a:endParaRP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DF6C51C4-8F6F-D26D-B93D-AA3BF1A89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448" y="7413469"/>
            <a:ext cx="1408751" cy="63251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87498" y="6663408"/>
            <a:ext cx="14817725" cy="2132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45720" algn="ctr">
              <a:lnSpc>
                <a:spcPts val="8165"/>
              </a:lnSpc>
              <a:spcBef>
                <a:spcPts val="130"/>
              </a:spcBef>
              <a:tabLst>
                <a:tab pos="13361035" algn="l"/>
              </a:tabLst>
            </a:pPr>
            <a:r>
              <a:rPr sz="7400" i="1" spc="-535" dirty="0">
                <a:latin typeface="Times New Roman"/>
                <a:cs typeface="Times New Roman"/>
              </a:rPr>
              <a:t>“</a:t>
            </a:r>
            <a:r>
              <a:rPr lang="en-US" sz="7400" i="1" spc="-535" dirty="0">
                <a:latin typeface="Times New Roman"/>
                <a:cs typeface="Times New Roman"/>
              </a:rPr>
              <a:t>There is no perfect model, but the</a:t>
            </a:r>
          </a:p>
          <a:p>
            <a:pPr marR="45720" algn="ctr">
              <a:lnSpc>
                <a:spcPts val="8165"/>
              </a:lnSpc>
              <a:spcBef>
                <a:spcPts val="130"/>
              </a:spcBef>
              <a:tabLst>
                <a:tab pos="13361035" algn="l"/>
              </a:tabLst>
            </a:pPr>
            <a:r>
              <a:rPr lang="en-US" sz="7400" i="1" spc="-535" dirty="0">
                <a:latin typeface="Times New Roman"/>
                <a:cs typeface="Times New Roman"/>
              </a:rPr>
              <a:t>most useful model for the business objective</a:t>
            </a:r>
            <a:r>
              <a:rPr lang="it-IT" sz="7050" i="1" spc="-345" dirty="0">
                <a:latin typeface="Times New Roman"/>
                <a:cs typeface="Times New Roman"/>
              </a:rPr>
              <a:t>.”</a:t>
            </a:r>
            <a:endParaRPr lang="it-IT" sz="7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5357" y="3848100"/>
            <a:ext cx="1428743" cy="39087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35400" y="3835400"/>
            <a:ext cx="88900" cy="41529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490450" y="3822700"/>
            <a:ext cx="0" cy="4276090"/>
          </a:xfrm>
          <a:custGeom>
            <a:avLst/>
            <a:gdLst/>
            <a:ahLst/>
            <a:cxnLst/>
            <a:rect l="l" t="t" r="r" b="b"/>
            <a:pathLst>
              <a:path h="4276090">
                <a:moveTo>
                  <a:pt x="0" y="42756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2508134" y="3795183"/>
            <a:ext cx="4055745" cy="4276090"/>
            <a:chOff x="12479866" y="3822700"/>
            <a:chExt cx="4055745" cy="4276090"/>
          </a:xfrm>
        </p:grpSpPr>
        <p:sp>
          <p:nvSpPr>
            <p:cNvPr id="8" name="object 8"/>
            <p:cNvSpPr/>
            <p:nvPr/>
          </p:nvSpPr>
          <p:spPr>
            <a:xfrm>
              <a:off x="16524812" y="3822700"/>
              <a:ext cx="0" cy="4276090"/>
            </a:xfrm>
            <a:custGeom>
              <a:avLst/>
              <a:gdLst/>
              <a:ahLst/>
              <a:cxnLst/>
              <a:rect l="l" t="t" r="r" b="b"/>
              <a:pathLst>
                <a:path h="4276090">
                  <a:moveTo>
                    <a:pt x="0" y="42756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479866" y="3833283"/>
              <a:ext cx="4055745" cy="0"/>
            </a:xfrm>
            <a:custGeom>
              <a:avLst/>
              <a:gdLst/>
              <a:ahLst/>
              <a:cxnLst/>
              <a:rect l="l" t="t" r="r" b="b"/>
              <a:pathLst>
                <a:path w="4055744">
                  <a:moveTo>
                    <a:pt x="0" y="0"/>
                  </a:moveTo>
                  <a:lnTo>
                    <a:pt x="4055533" y="0"/>
                  </a:lnTo>
                </a:path>
              </a:pathLst>
            </a:custGeom>
            <a:ln w="2116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479866" y="8087783"/>
              <a:ext cx="4055745" cy="0"/>
            </a:xfrm>
            <a:custGeom>
              <a:avLst/>
              <a:gdLst/>
              <a:ahLst/>
              <a:cxnLst/>
              <a:rect l="l" t="t" r="r" b="b"/>
              <a:pathLst>
                <a:path w="4055744">
                  <a:moveTo>
                    <a:pt x="0" y="0"/>
                  </a:moveTo>
                  <a:lnTo>
                    <a:pt x="4055533" y="0"/>
                  </a:lnTo>
                </a:path>
              </a:pathLst>
            </a:custGeom>
            <a:ln w="2116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99582" y="3784600"/>
            <a:ext cx="45719" cy="3860899"/>
          </a:xfrm>
          <a:custGeom>
            <a:avLst/>
            <a:gdLst/>
            <a:ahLst/>
            <a:cxnLst/>
            <a:rect l="l" t="t" r="r" b="b"/>
            <a:pathLst>
              <a:path h="4301490">
                <a:moveTo>
                  <a:pt x="0" y="43010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313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889000" y="3784600"/>
            <a:ext cx="4038600" cy="3972203"/>
            <a:chOff x="889000" y="3784600"/>
            <a:chExt cx="4038600" cy="4330700"/>
          </a:xfrm>
        </p:grpSpPr>
        <p:sp>
          <p:nvSpPr>
            <p:cNvPr id="13" name="object 13"/>
            <p:cNvSpPr/>
            <p:nvPr/>
          </p:nvSpPr>
          <p:spPr>
            <a:xfrm>
              <a:off x="4917016" y="3784600"/>
              <a:ext cx="0" cy="4301490"/>
            </a:xfrm>
            <a:custGeom>
              <a:avLst/>
              <a:gdLst/>
              <a:ahLst/>
              <a:cxnLst/>
              <a:rect l="l" t="t" r="r" b="b"/>
              <a:pathLst>
                <a:path h="4301490">
                  <a:moveTo>
                    <a:pt x="0" y="43010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9000" y="3795183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ln w="2116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9000" y="8075083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ln w="21166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6000" y="8100483"/>
              <a:ext cx="3865245" cy="0"/>
            </a:xfrm>
            <a:custGeom>
              <a:avLst/>
              <a:gdLst/>
              <a:ahLst/>
              <a:cxnLst/>
              <a:rect l="l" t="t" r="r" b="b"/>
              <a:pathLst>
                <a:path w="3865245">
                  <a:moveTo>
                    <a:pt x="0" y="0"/>
                  </a:moveTo>
                  <a:lnTo>
                    <a:pt x="3865033" y="0"/>
                  </a:lnTo>
                </a:path>
              </a:pathLst>
            </a:custGeom>
            <a:ln w="29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457951" y="764550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ln w="889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623800" y="8087783"/>
            <a:ext cx="3839845" cy="0"/>
          </a:xfrm>
          <a:custGeom>
            <a:avLst/>
            <a:gdLst/>
            <a:ahLst/>
            <a:cxnLst/>
            <a:rect l="l" t="t" r="r" b="b"/>
            <a:pathLst>
              <a:path w="3839844">
                <a:moveTo>
                  <a:pt x="0" y="0"/>
                </a:moveTo>
                <a:lnTo>
                  <a:pt x="38396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2583367" y="3767561"/>
            <a:ext cx="3916045" cy="55244"/>
            <a:chOff x="12585700" y="3729566"/>
            <a:chExt cx="3916045" cy="55244"/>
          </a:xfrm>
        </p:grpSpPr>
        <p:sp>
          <p:nvSpPr>
            <p:cNvPr id="20" name="object 20"/>
            <p:cNvSpPr/>
            <p:nvPr/>
          </p:nvSpPr>
          <p:spPr>
            <a:xfrm>
              <a:off x="12585700" y="3769783"/>
              <a:ext cx="3916045" cy="0"/>
            </a:xfrm>
            <a:custGeom>
              <a:avLst/>
              <a:gdLst/>
              <a:ahLst/>
              <a:cxnLst/>
              <a:rect l="l" t="t" r="r" b="b"/>
              <a:pathLst>
                <a:path w="3916044">
                  <a:moveTo>
                    <a:pt x="0" y="0"/>
                  </a:moveTo>
                  <a:lnTo>
                    <a:pt x="3915833" y="0"/>
                  </a:lnTo>
                </a:path>
              </a:pathLst>
            </a:custGeom>
            <a:ln w="29633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623800" y="3744383"/>
              <a:ext cx="3839845" cy="0"/>
            </a:xfrm>
            <a:custGeom>
              <a:avLst/>
              <a:gdLst/>
              <a:ahLst/>
              <a:cxnLst/>
              <a:rect l="l" t="t" r="r" b="b"/>
              <a:pathLst>
                <a:path w="3839844">
                  <a:moveTo>
                    <a:pt x="0" y="0"/>
                  </a:moveTo>
                  <a:lnTo>
                    <a:pt x="3839633" y="0"/>
                  </a:lnTo>
                </a:path>
              </a:pathLst>
            </a:custGeom>
            <a:ln w="29633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88999" y="357059"/>
            <a:ext cx="15925798" cy="1621598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lang="it-IT" sz="5450" dirty="0"/>
              <a:t>The Virtual Analyst: </a:t>
            </a:r>
            <a:r>
              <a:rPr lang="it-IT" sz="5450" dirty="0" err="1"/>
              <a:t>GenAI</a:t>
            </a:r>
            <a:r>
              <a:rPr lang="it-IT" sz="5450" dirty="0"/>
              <a:t> Integration (</a:t>
            </a:r>
            <a:r>
              <a:rPr lang="it-IT" sz="5450" dirty="0" err="1"/>
              <a:t>Llama</a:t>
            </a:r>
            <a:r>
              <a:rPr lang="it-IT" sz="5450" dirty="0"/>
              <a:t> 3)</a:t>
            </a:r>
            <a:br>
              <a:rPr lang="it-IT" sz="5450" dirty="0"/>
            </a:br>
            <a:r>
              <a:rPr lang="it-IT" sz="3800" dirty="0"/>
              <a:t>Beyond </a:t>
            </a:r>
            <a:r>
              <a:rPr lang="it-IT" sz="3800" dirty="0" err="1"/>
              <a:t>visualization</a:t>
            </a:r>
            <a:r>
              <a:rPr lang="it-IT" sz="3800" dirty="0"/>
              <a:t>, </a:t>
            </a:r>
            <a:r>
              <a:rPr lang="it-IT" sz="3800" dirty="0" err="1"/>
              <a:t>towards</a:t>
            </a:r>
            <a:r>
              <a:rPr lang="it-IT" sz="3800" dirty="0"/>
              <a:t> </a:t>
            </a:r>
            <a:r>
              <a:rPr lang="it-IT" sz="3800" dirty="0" err="1"/>
              <a:t>reasoning</a:t>
            </a:r>
            <a:r>
              <a:rPr lang="it-IT" sz="3800" dirty="0"/>
              <a:t>.</a:t>
            </a:r>
            <a:endParaRPr sz="3800" dirty="0"/>
          </a:p>
        </p:txBody>
      </p:sp>
      <p:sp>
        <p:nvSpPr>
          <p:cNvPr id="23" name="object 23"/>
          <p:cNvSpPr txBox="1"/>
          <p:nvPr/>
        </p:nvSpPr>
        <p:spPr>
          <a:xfrm>
            <a:off x="935952" y="5125496"/>
            <a:ext cx="3996690" cy="16658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6515" algn="ctr">
              <a:lnSpc>
                <a:spcPts val="4190"/>
              </a:lnSpc>
              <a:spcBef>
                <a:spcPts val="130"/>
              </a:spcBef>
            </a:pPr>
            <a:r>
              <a:rPr lang="it-IT" sz="3650" spc="100" dirty="0" err="1">
                <a:latin typeface="Calibri"/>
                <a:cs typeface="Calibri"/>
              </a:rPr>
              <a:t>Exstract</a:t>
            </a:r>
            <a:r>
              <a:rPr lang="it-IT" sz="3650" spc="100" dirty="0">
                <a:latin typeface="Calibri"/>
                <a:cs typeface="Calibri"/>
              </a:rPr>
              <a:t> Data</a:t>
            </a:r>
            <a:endParaRPr sz="3650" dirty="0">
              <a:latin typeface="Calibri"/>
              <a:cs typeface="Calibri"/>
            </a:endParaRPr>
          </a:p>
          <a:p>
            <a:pPr marL="41910" algn="ctr">
              <a:lnSpc>
                <a:spcPts val="4070"/>
              </a:lnSpc>
            </a:pPr>
            <a:r>
              <a:rPr sz="3550" spc="-10" dirty="0">
                <a:latin typeface="Calibri"/>
                <a:cs typeface="Calibri"/>
              </a:rPr>
              <a:t>(Python)</a:t>
            </a:r>
            <a:endParaRPr sz="35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355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00801" y="3860800"/>
            <a:ext cx="4686300" cy="3752950"/>
          </a:xfrm>
          <a:prstGeom prst="rect">
            <a:avLst/>
          </a:prstGeom>
          <a:ln w="21166">
            <a:solidFill>
              <a:srgbClr val="131313"/>
            </a:solidFill>
          </a:ln>
        </p:spPr>
        <p:txBody>
          <a:bodyPr vert="horz" wrap="square" lIns="0" tIns="424815" rIns="0" bIns="0" rtlCol="0">
            <a:spAutoFit/>
          </a:bodyPr>
          <a:lstStyle/>
          <a:p>
            <a:pPr marL="586105" marR="549275" algn="ctr">
              <a:lnSpc>
                <a:spcPts val="3900"/>
              </a:lnSpc>
              <a:spcBef>
                <a:spcPts val="3345"/>
              </a:spcBef>
            </a:pPr>
            <a:r>
              <a:rPr sz="3400" dirty="0">
                <a:latin typeface="Arial MT"/>
                <a:cs typeface="Arial MT"/>
              </a:rPr>
              <a:t>Reasoning</a:t>
            </a:r>
            <a:r>
              <a:rPr sz="3400" spc="-65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Engine </a:t>
            </a:r>
            <a:r>
              <a:rPr sz="3400" spc="-20" dirty="0">
                <a:latin typeface="Arial MT"/>
                <a:cs typeface="Arial MT"/>
              </a:rPr>
              <a:t>(Groq</a:t>
            </a:r>
            <a:r>
              <a:rPr sz="3400" spc="-165" dirty="0">
                <a:latin typeface="Arial MT"/>
                <a:cs typeface="Arial MT"/>
              </a:rPr>
              <a:t> </a:t>
            </a:r>
            <a:r>
              <a:rPr sz="3400" spc="-20" dirty="0">
                <a:latin typeface="Arial MT"/>
                <a:cs typeface="Arial MT"/>
              </a:rPr>
              <a:t>API)</a:t>
            </a:r>
            <a:endParaRPr sz="3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400" dirty="0">
              <a:latin typeface="Arial MT"/>
              <a:cs typeface="Arial MT"/>
            </a:endParaRPr>
          </a:p>
          <a:p>
            <a:pPr algn="ctr"/>
            <a:r>
              <a:rPr lang="it-IT" sz="3200" spc="100" dirty="0">
                <a:latin typeface="Arial MT"/>
                <a:cs typeface="Arial MT"/>
              </a:rPr>
              <a:t>LIama-</a:t>
            </a:r>
            <a:r>
              <a:rPr lang="it-IT" sz="3200" spc="114" dirty="0">
                <a:latin typeface="Arial MT"/>
                <a:cs typeface="Arial MT"/>
              </a:rPr>
              <a:t>3.3</a:t>
            </a:r>
          </a:p>
          <a:p>
            <a:pPr>
              <a:lnSpc>
                <a:spcPct val="100000"/>
              </a:lnSpc>
            </a:pPr>
            <a:endParaRPr lang="it-IT" sz="3400" dirty="0">
              <a:latin typeface="Arial MT"/>
              <a:cs typeface="Arial MT"/>
            </a:endParaRPr>
          </a:p>
          <a:p>
            <a:pPr marL="59055" algn="ctr">
              <a:lnSpc>
                <a:spcPct val="100000"/>
              </a:lnSpc>
            </a:pPr>
            <a:endParaRPr lang="it-IT" sz="2550" spc="114" dirty="0">
              <a:latin typeface="Arial MT"/>
              <a:cs typeface="Arial MT"/>
            </a:endParaRPr>
          </a:p>
          <a:p>
            <a:pPr marL="59055" algn="ctr">
              <a:lnSpc>
                <a:spcPct val="100000"/>
              </a:lnSpc>
            </a:pPr>
            <a:endParaRPr sz="255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01033" y="4171597"/>
            <a:ext cx="4013200" cy="37010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lang="en-US" sz="3400" spc="80" dirty="0">
                <a:latin typeface="Arial MT"/>
                <a:cs typeface="Arial MT"/>
              </a:rPr>
              <a:t>Strategic Insight</a:t>
            </a:r>
          </a:p>
          <a:p>
            <a:pPr marL="247015">
              <a:lnSpc>
                <a:spcPct val="100000"/>
              </a:lnSpc>
              <a:spcBef>
                <a:spcPts val="100"/>
              </a:spcBef>
            </a:pPr>
            <a:endParaRPr lang="en-US" sz="3400" spc="80" dirty="0">
              <a:latin typeface="Arial MT"/>
              <a:cs typeface="Arial MT"/>
            </a:endParaRPr>
          </a:p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lang="en-US" sz="3400" spc="80" dirty="0">
                <a:latin typeface="Arial MT"/>
                <a:cs typeface="Arial MT"/>
              </a:rPr>
              <a:t>Diagnose bottlenecks and make business suggestions in natural language</a:t>
            </a:r>
            <a:r>
              <a:rPr sz="3100" spc="-30" dirty="0">
                <a:latin typeface="Arial MT"/>
                <a:cs typeface="Arial MT"/>
              </a:rPr>
              <a:t>.</a:t>
            </a:r>
            <a:endParaRPr sz="3100" dirty="0">
              <a:latin typeface="Arial MT"/>
              <a:cs typeface="Arial MT"/>
            </a:endParaRPr>
          </a:p>
        </p:txBody>
      </p:sp>
      <p:pic>
        <p:nvPicPr>
          <p:cNvPr id="26" name="object 3">
            <a:extLst>
              <a:ext uri="{FF2B5EF4-FFF2-40B4-BE49-F238E27FC236}">
                <a16:creationId xmlns:a16="http://schemas.microsoft.com/office/drawing/2014/main" id="{1A9B7BF6-45F9-4ECE-C43F-9BC362429D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1245" y="3813464"/>
            <a:ext cx="1551300" cy="3908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5658" y="6465769"/>
            <a:ext cx="6413500" cy="1473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858" y="2998669"/>
            <a:ext cx="12547600" cy="10541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26058" y="5434952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3933" y="0"/>
                </a:lnTo>
              </a:path>
            </a:pathLst>
          </a:custGeom>
          <a:ln w="4233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726058" y="5280435"/>
            <a:ext cx="144145" cy="156845"/>
            <a:chOff x="8661400" y="4910666"/>
            <a:chExt cx="144145" cy="156845"/>
          </a:xfrm>
        </p:grpSpPr>
        <p:sp>
          <p:nvSpPr>
            <p:cNvPr id="6" name="object 6"/>
            <p:cNvSpPr/>
            <p:nvPr/>
          </p:nvSpPr>
          <p:spPr>
            <a:xfrm>
              <a:off x="8661400" y="4910666"/>
              <a:ext cx="144145" cy="156845"/>
            </a:xfrm>
            <a:custGeom>
              <a:avLst/>
              <a:gdLst/>
              <a:ahLst/>
              <a:cxnLst/>
              <a:rect l="l" t="t" r="r" b="b"/>
              <a:pathLst>
                <a:path w="144145" h="156845">
                  <a:moveTo>
                    <a:pt x="0" y="2116"/>
                  </a:moveTo>
                  <a:lnTo>
                    <a:pt x="143933" y="2116"/>
                  </a:lnTo>
                </a:path>
                <a:path w="144145" h="156845">
                  <a:moveTo>
                    <a:pt x="2116" y="156633"/>
                  </a:moveTo>
                  <a:lnTo>
                    <a:pt x="2116" y="0"/>
                  </a:lnTo>
                </a:path>
              </a:pathLst>
            </a:custGeom>
            <a:ln w="4233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03216" y="4910666"/>
              <a:ext cx="0" cy="156845"/>
            </a:xfrm>
            <a:custGeom>
              <a:avLst/>
              <a:gdLst/>
              <a:ahLst/>
              <a:cxnLst/>
              <a:rect l="l" t="t" r="r" b="b"/>
              <a:pathLst>
                <a:path h="156845">
                  <a:moveTo>
                    <a:pt x="0" y="156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36258" y="3252669"/>
            <a:ext cx="825500" cy="5461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70859" y="884824"/>
            <a:ext cx="15915005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700" spc="-160" dirty="0"/>
              <a:t>Predictive Intelligence: Anticipating the Next Move</a:t>
            </a:r>
            <a:endParaRPr sz="5700" dirty="0"/>
          </a:p>
        </p:txBody>
      </p:sp>
      <p:sp>
        <p:nvSpPr>
          <p:cNvPr id="10" name="object 10"/>
          <p:cNvSpPr txBox="1"/>
          <p:nvPr/>
        </p:nvSpPr>
        <p:spPr>
          <a:xfrm>
            <a:off x="779253" y="1748743"/>
            <a:ext cx="9113520" cy="2141220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lang="it-IT" sz="4450" spc="50" dirty="0">
                <a:latin typeface="Calibri"/>
                <a:cs typeface="Calibri"/>
              </a:rPr>
              <a:t>User Input</a:t>
            </a:r>
            <a:endParaRPr sz="4450" dirty="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  <a:spcBef>
                <a:spcPts val="2810"/>
              </a:spcBef>
              <a:tabLst>
                <a:tab pos="988694" algn="l"/>
                <a:tab pos="6845300" algn="l"/>
                <a:tab pos="7319009" algn="l"/>
                <a:tab pos="8909050" algn="l"/>
              </a:tabLst>
            </a:pPr>
            <a:r>
              <a:rPr sz="5050" spc="-50" dirty="0">
                <a:latin typeface="Calibri"/>
                <a:cs typeface="Calibri"/>
              </a:rPr>
              <a:t>[</a:t>
            </a:r>
            <a:r>
              <a:rPr sz="5050" dirty="0">
                <a:latin typeface="Calibri"/>
                <a:cs typeface="Calibri"/>
              </a:rPr>
              <a:t>	</a:t>
            </a:r>
            <a:r>
              <a:rPr sz="5050" spc="155" dirty="0">
                <a:latin typeface="Calibri"/>
                <a:cs typeface="Calibri"/>
              </a:rPr>
              <a:t>VIE</a:t>
            </a:r>
            <a:r>
              <a:rPr lang="it-IT" sz="5050" spc="155" dirty="0">
                <a:latin typeface="Calibri"/>
                <a:cs typeface="Calibri"/>
              </a:rPr>
              <a:t>W</a:t>
            </a:r>
            <a:r>
              <a:rPr sz="5050" spc="155" dirty="0">
                <a:latin typeface="Calibri"/>
                <a:cs typeface="Calibri"/>
              </a:rPr>
              <a:t>I</a:t>
            </a:r>
            <a:r>
              <a:rPr sz="5050" spc="235" dirty="0">
                <a:latin typeface="Calibri"/>
                <a:cs typeface="Calibri"/>
              </a:rPr>
              <a:t> </a:t>
            </a:r>
            <a:r>
              <a:rPr sz="5050" spc="70" dirty="0">
                <a:latin typeface="Calibri"/>
                <a:cs typeface="Calibri"/>
              </a:rPr>
              <a:t>]</a:t>
            </a:r>
            <a:r>
              <a:rPr sz="5050" dirty="0">
                <a:latin typeface="Calibri"/>
                <a:cs typeface="Calibri"/>
              </a:rPr>
              <a:t>	</a:t>
            </a:r>
            <a:r>
              <a:rPr sz="5050" spc="110" dirty="0">
                <a:latin typeface="Calibri"/>
                <a:cs typeface="Calibri"/>
              </a:rPr>
              <a:t>[</a:t>
            </a:r>
            <a:r>
              <a:rPr sz="5050" dirty="0">
                <a:latin typeface="Calibri"/>
                <a:cs typeface="Calibri"/>
              </a:rPr>
              <a:t>	</a:t>
            </a:r>
            <a:r>
              <a:rPr sz="5050" spc="-20" dirty="0">
                <a:latin typeface="Calibri"/>
                <a:cs typeface="Calibri"/>
              </a:rPr>
              <a:t>CART</a:t>
            </a:r>
            <a:r>
              <a:rPr sz="5050" dirty="0">
                <a:latin typeface="Calibri"/>
                <a:cs typeface="Calibri"/>
              </a:rPr>
              <a:t>	</a:t>
            </a:r>
            <a:r>
              <a:rPr sz="5050" spc="-50" dirty="0">
                <a:latin typeface="Calibri"/>
                <a:cs typeface="Calibri"/>
              </a:rPr>
              <a:t>]</a:t>
            </a:r>
            <a:endParaRPr sz="50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994" y="4263708"/>
            <a:ext cx="7599016" cy="18440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it-IT" sz="4350" spc="250" dirty="0" err="1">
                <a:latin typeface="Calibri"/>
                <a:cs typeface="Calibri"/>
              </a:rPr>
              <a:t>Calculation</a:t>
            </a:r>
            <a:r>
              <a:rPr lang="it-IT" sz="4350" spc="250" dirty="0">
                <a:latin typeface="Calibri"/>
                <a:cs typeface="Calibri"/>
              </a:rPr>
              <a:t> </a:t>
            </a:r>
            <a:r>
              <a:rPr lang="it-IT" sz="4350" spc="250" dirty="0" err="1">
                <a:latin typeface="Calibri"/>
                <a:cs typeface="Calibri"/>
              </a:rPr>
              <a:t>Process</a:t>
            </a:r>
            <a:endParaRPr lang="it-IT" sz="4350" spc="2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3300" spc="-280" dirty="0">
                <a:latin typeface="Calibri"/>
                <a:cs typeface="Calibri"/>
              </a:rPr>
              <a:t>1.</a:t>
            </a:r>
            <a:r>
              <a:rPr sz="3300" spc="5" dirty="0">
                <a:latin typeface="Calibri"/>
                <a:cs typeface="Calibri"/>
              </a:rPr>
              <a:t> </a:t>
            </a:r>
            <a:r>
              <a:rPr lang="it-IT" sz="3300" spc="-40" dirty="0" err="1">
                <a:latin typeface="Calibri"/>
                <a:cs typeface="Calibri"/>
              </a:rPr>
              <a:t>Historical</a:t>
            </a:r>
            <a:r>
              <a:rPr lang="it-IT" sz="3300" spc="-40" dirty="0">
                <a:latin typeface="Calibri"/>
                <a:cs typeface="Calibri"/>
              </a:rPr>
              <a:t> </a:t>
            </a:r>
            <a:r>
              <a:rPr lang="it-IT" sz="3300" spc="-40" dirty="0" err="1">
                <a:latin typeface="Calibri"/>
                <a:cs typeface="Calibri"/>
              </a:rPr>
              <a:t>Probability</a:t>
            </a:r>
            <a:r>
              <a:rPr lang="it-IT" sz="3300" spc="-40" dirty="0">
                <a:latin typeface="Calibri"/>
                <a:cs typeface="Calibri"/>
              </a:rPr>
              <a:t> </a:t>
            </a:r>
            <a:r>
              <a:rPr lang="it-IT" sz="3300" spc="-40" dirty="0" err="1">
                <a:latin typeface="Calibri"/>
                <a:cs typeface="Calibri"/>
              </a:rPr>
              <a:t>Calculation</a:t>
            </a:r>
            <a:r>
              <a:rPr sz="3300" spc="-20" dirty="0">
                <a:latin typeface="Calibri"/>
                <a:cs typeface="Calibri"/>
              </a:rPr>
              <a:t>(Pandas</a:t>
            </a:r>
            <a:r>
              <a:rPr sz="3300" spc="-10" dirty="0">
                <a:latin typeface="Calibri"/>
                <a:cs typeface="Calibri"/>
              </a:rPr>
              <a:t> </a:t>
            </a:r>
            <a:r>
              <a:rPr sz="3300" spc="-25" dirty="0">
                <a:latin typeface="Calibri"/>
                <a:cs typeface="Calibri"/>
              </a:rPr>
              <a:t>Shift)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96190" y="5045484"/>
            <a:ext cx="8023408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dirty="0">
                <a:latin typeface="Calibri"/>
                <a:cs typeface="Calibri"/>
              </a:rPr>
              <a:t>2.</a:t>
            </a:r>
            <a:r>
              <a:rPr sz="3300" spc="-190" dirty="0">
                <a:latin typeface="Calibri"/>
                <a:cs typeface="Calibri"/>
              </a:rPr>
              <a:t> </a:t>
            </a:r>
            <a:r>
              <a:rPr lang="it-IT" sz="3300" spc="-95" dirty="0">
                <a:latin typeface="Calibri"/>
                <a:cs typeface="Calibri"/>
              </a:rPr>
              <a:t>Semantic </a:t>
            </a:r>
            <a:r>
              <a:rPr lang="it-IT" sz="3300" spc="-95" dirty="0" err="1">
                <a:latin typeface="Calibri"/>
                <a:cs typeface="Calibri"/>
              </a:rPr>
              <a:t>Interpretation</a:t>
            </a:r>
            <a:r>
              <a:rPr lang="it-IT" sz="3300" spc="-95" dirty="0">
                <a:latin typeface="Calibri"/>
                <a:cs typeface="Calibri"/>
              </a:rPr>
              <a:t> </a:t>
            </a:r>
            <a:r>
              <a:rPr sz="3300" spc="-35" dirty="0">
                <a:latin typeface="Calibri"/>
                <a:cs typeface="Calibri"/>
              </a:rPr>
              <a:t>(Llama</a:t>
            </a:r>
            <a:r>
              <a:rPr sz="3300" spc="-20" dirty="0">
                <a:latin typeface="Calibri"/>
                <a:cs typeface="Calibri"/>
              </a:rPr>
              <a:t> </a:t>
            </a:r>
            <a:r>
              <a:rPr sz="3300" spc="65" dirty="0">
                <a:latin typeface="Calibri"/>
                <a:cs typeface="Calibri"/>
              </a:rPr>
              <a:t>3</a:t>
            </a:r>
            <a:r>
              <a:rPr sz="3300" spc="-185" dirty="0">
                <a:latin typeface="Calibri"/>
                <a:cs typeface="Calibri"/>
              </a:rPr>
              <a:t> </a:t>
            </a:r>
            <a:r>
              <a:rPr sz="3300" spc="-80" dirty="0">
                <a:latin typeface="Calibri"/>
                <a:cs typeface="Calibri"/>
              </a:rPr>
              <a:t>Context)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8588" y="6318742"/>
            <a:ext cx="4939864" cy="1659428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4350" spc="90" dirty="0">
                <a:latin typeface="Calibri"/>
                <a:cs typeface="Calibri"/>
              </a:rPr>
              <a:t>Output</a:t>
            </a:r>
            <a:endParaRPr sz="435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480"/>
              </a:spcBef>
            </a:pPr>
            <a:r>
              <a:rPr sz="3650" spc="375" dirty="0">
                <a:latin typeface="Calibri"/>
                <a:cs typeface="Calibri"/>
              </a:rPr>
              <a:t>EXIT</a:t>
            </a:r>
            <a:r>
              <a:rPr sz="3650" spc="90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(</a:t>
            </a:r>
            <a:r>
              <a:rPr lang="it-IT" sz="3650" spc="-10" dirty="0">
                <a:latin typeface="Calibri"/>
                <a:cs typeface="Calibri"/>
              </a:rPr>
              <a:t>High </a:t>
            </a:r>
            <a:r>
              <a:rPr lang="it-IT" sz="3650" spc="-10" dirty="0" err="1">
                <a:latin typeface="Calibri"/>
                <a:cs typeface="Calibri"/>
              </a:rPr>
              <a:t>Probability</a:t>
            </a:r>
            <a:r>
              <a:rPr sz="3650" spc="-10" dirty="0">
                <a:latin typeface="Calibri"/>
                <a:cs typeface="Calibri"/>
              </a:rPr>
              <a:t>)</a:t>
            </a:r>
            <a:endParaRPr sz="36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6960" y="7564319"/>
            <a:ext cx="204978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65" dirty="0">
                <a:latin typeface="Calibri"/>
                <a:cs typeface="Calibri"/>
              </a:rPr>
              <a:t>PURCHASE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98149" y="6325363"/>
            <a:ext cx="69024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35" dirty="0">
                <a:latin typeface="Consolas"/>
                <a:cs typeface="Consolas"/>
              </a:rPr>
              <a:t>60%</a:t>
            </a:r>
            <a:endParaRPr sz="305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00608" y="7303263"/>
            <a:ext cx="68389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25" dirty="0">
                <a:latin typeface="Consolas"/>
                <a:cs typeface="Consolas"/>
              </a:rPr>
              <a:t>40%</a:t>
            </a:r>
            <a:endParaRPr sz="305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90400" y="6477000"/>
            <a:ext cx="4415155" cy="1609415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lang="it-IT" sz="3650" spc="160" dirty="0">
                <a:latin typeface="Calibri"/>
                <a:cs typeface="Calibri"/>
              </a:rPr>
              <a:t>Risk of </a:t>
            </a:r>
            <a:r>
              <a:rPr lang="it-IT" sz="3650" spc="160" dirty="0" err="1">
                <a:latin typeface="Calibri"/>
                <a:cs typeface="Calibri"/>
              </a:rPr>
              <a:t>abandonment</a:t>
            </a:r>
            <a:endParaRPr lang="it-IT" sz="3650" spc="16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lang="it-IT" sz="3800" spc="-10" dirty="0" err="1">
                <a:latin typeface="Calibri"/>
                <a:cs typeface="Calibri"/>
              </a:rPr>
              <a:t>Opportunities</a:t>
            </a:r>
            <a:endParaRPr sz="3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300" y="1727200"/>
            <a:ext cx="10388600" cy="7645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6441" y="486127"/>
            <a:ext cx="15567025" cy="935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5950" spc="-370" dirty="0"/>
              <a:t>The </a:t>
            </a:r>
            <a:r>
              <a:rPr lang="en-US" sz="5950" spc="-370" dirty="0" err="1"/>
              <a:t>Streamlit</a:t>
            </a:r>
            <a:r>
              <a:rPr lang="en-US" sz="5950" spc="-370" dirty="0"/>
              <a:t> Dashboard: Interactive Control Room</a:t>
            </a:r>
            <a:endParaRPr sz="5950" dirty="0"/>
          </a:p>
        </p:txBody>
      </p:sp>
      <p:sp>
        <p:nvSpPr>
          <p:cNvPr id="4" name="object 4"/>
          <p:cNvSpPr txBox="1"/>
          <p:nvPr/>
        </p:nvSpPr>
        <p:spPr>
          <a:xfrm>
            <a:off x="5691183" y="1831269"/>
            <a:ext cx="606679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60" dirty="0">
                <a:latin typeface="Arial MT"/>
                <a:cs typeface="Arial MT"/>
              </a:rPr>
              <a:t>Process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100" dirty="0">
                <a:latin typeface="Arial MT"/>
                <a:cs typeface="Arial MT"/>
              </a:rPr>
              <a:t>Mining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Dashboard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50" dirty="0">
                <a:latin typeface="Arial MT"/>
                <a:cs typeface="Arial MT"/>
              </a:rPr>
              <a:t>AI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80" dirty="0">
                <a:latin typeface="Arial MT"/>
                <a:cs typeface="Arial MT"/>
              </a:rPr>
              <a:t>Prediction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5987" y="2624640"/>
            <a:ext cx="6809105" cy="98234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330"/>
              </a:spcBef>
            </a:pPr>
            <a:r>
              <a:rPr sz="1950" spc="-10" dirty="0">
                <a:latin typeface="Arial MT"/>
                <a:cs typeface="Arial MT"/>
              </a:rPr>
              <a:t>Fitness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593725" algn="l"/>
                <a:tab pos="2896870" algn="l"/>
                <a:tab pos="5779770" algn="l"/>
              </a:tabLst>
            </a:pPr>
            <a:r>
              <a:rPr sz="3750" spc="-390" dirty="0">
                <a:latin typeface="Arial MT"/>
                <a:cs typeface="Arial MT"/>
              </a:rPr>
              <a:t>a.</a:t>
            </a:r>
            <a:r>
              <a:rPr sz="3750" dirty="0">
                <a:latin typeface="Arial MT"/>
                <a:cs typeface="Arial MT"/>
              </a:rPr>
              <a:t>	</a:t>
            </a:r>
            <a:r>
              <a:rPr sz="3750" spc="95" dirty="0">
                <a:latin typeface="Arial MT"/>
                <a:cs typeface="Arial MT"/>
              </a:rPr>
              <a:t>98</a:t>
            </a:r>
            <a:r>
              <a:rPr sz="3750" dirty="0">
                <a:latin typeface="Arial MT"/>
                <a:cs typeface="Arial MT"/>
              </a:rPr>
              <a:t>	</a:t>
            </a:r>
            <a:r>
              <a:rPr sz="3750" spc="-90" dirty="0">
                <a:latin typeface="Arial MT"/>
                <a:cs typeface="Arial MT"/>
              </a:rPr>
              <a:t>ò</a:t>
            </a:r>
            <a:r>
              <a:rPr sz="3750" spc="-385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.</a:t>
            </a:r>
            <a:r>
              <a:rPr sz="3750" spc="-190" dirty="0">
                <a:latin typeface="Arial MT"/>
                <a:cs typeface="Arial MT"/>
              </a:rPr>
              <a:t> </a:t>
            </a:r>
            <a:r>
              <a:rPr sz="3750" spc="95" dirty="0">
                <a:latin typeface="Arial MT"/>
                <a:cs typeface="Arial MT"/>
              </a:rPr>
              <a:t>85</a:t>
            </a:r>
            <a:r>
              <a:rPr sz="3750" dirty="0">
                <a:latin typeface="Arial MT"/>
                <a:cs typeface="Arial MT"/>
              </a:rPr>
              <a:t>	</a:t>
            </a:r>
            <a:r>
              <a:rPr sz="5625" baseline="1481" dirty="0">
                <a:latin typeface="Arial MT"/>
                <a:cs typeface="Arial MT"/>
              </a:rPr>
              <a:t>ò</a:t>
            </a:r>
            <a:r>
              <a:rPr sz="5625" spc="-705" baseline="1481" dirty="0">
                <a:latin typeface="Arial MT"/>
                <a:cs typeface="Arial MT"/>
              </a:rPr>
              <a:t> </a:t>
            </a:r>
            <a:r>
              <a:rPr sz="5625" spc="-37" baseline="1481" dirty="0">
                <a:latin typeface="Arial MT"/>
                <a:cs typeface="Arial MT"/>
              </a:rPr>
              <a:t>.7ó</a:t>
            </a:r>
            <a:endParaRPr sz="5625" baseline="148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5740" y="2718151"/>
            <a:ext cx="2584450" cy="888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ts val="3300"/>
              </a:lnSpc>
              <a:spcBef>
                <a:spcPts val="585"/>
              </a:spcBef>
            </a:pPr>
            <a:r>
              <a:rPr lang="it-IT" sz="4000" spc="-10" dirty="0" err="1">
                <a:latin typeface="Calibri"/>
                <a:cs typeface="Calibri"/>
              </a:rPr>
              <a:t>Metrics</a:t>
            </a:r>
            <a:r>
              <a:rPr lang="it-IT" sz="4000" spc="-10" dirty="0">
                <a:latin typeface="Calibri"/>
                <a:cs typeface="Calibri"/>
              </a:rPr>
              <a:t> </a:t>
            </a:r>
            <a:r>
              <a:rPr lang="it-IT" sz="4000" spc="-25" dirty="0">
                <a:latin typeface="Calibri"/>
                <a:cs typeface="Calibri"/>
              </a:rPr>
              <a:t>real-</a:t>
            </a:r>
            <a:r>
              <a:rPr lang="it-IT" sz="4000" spc="-20" dirty="0">
                <a:latin typeface="Calibri"/>
                <a:cs typeface="Calibri"/>
              </a:rPr>
              <a:t>time</a:t>
            </a:r>
            <a:endParaRPr lang="it-IT" sz="4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6146" y="7260166"/>
            <a:ext cx="241300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35" dirty="0">
                <a:latin typeface="Arial MT"/>
                <a:cs typeface="Arial MT"/>
              </a:rPr>
              <a:t>Next</a:t>
            </a:r>
            <a:r>
              <a:rPr sz="2050" spc="-70" dirty="0">
                <a:latin typeface="Arial MT"/>
                <a:cs typeface="Arial MT"/>
              </a:rPr>
              <a:t> </a:t>
            </a:r>
            <a:r>
              <a:rPr sz="2050" spc="-80" dirty="0">
                <a:latin typeface="Arial MT"/>
                <a:cs typeface="Arial MT"/>
              </a:rPr>
              <a:t>Event</a:t>
            </a:r>
            <a:r>
              <a:rPr sz="2050" spc="-65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Prediction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33766" y="5114563"/>
            <a:ext cx="2576830" cy="50719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6985">
              <a:lnSpc>
                <a:spcPts val="3300"/>
              </a:lnSpc>
              <a:spcBef>
                <a:spcPts val="655"/>
              </a:spcBef>
            </a:pPr>
            <a:r>
              <a:rPr lang="it-IT" sz="3200" spc="-145" dirty="0" err="1">
                <a:latin typeface="Arial MT"/>
                <a:cs typeface="Arial MT"/>
              </a:rPr>
              <a:t>Graph</a:t>
            </a:r>
            <a:r>
              <a:rPr lang="it-IT" sz="3200" spc="-145" dirty="0">
                <a:latin typeface="Arial MT"/>
                <a:cs typeface="Arial MT"/>
              </a:rPr>
              <a:t> </a:t>
            </a:r>
            <a:r>
              <a:rPr lang="it-IT" sz="3200" spc="-145" dirty="0" err="1">
                <a:latin typeface="Arial MT"/>
                <a:cs typeface="Arial MT"/>
              </a:rPr>
              <a:t>view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59166" y="7652455"/>
            <a:ext cx="3136634" cy="9483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645"/>
              </a:lnSpc>
              <a:spcBef>
                <a:spcPts val="95"/>
              </a:spcBef>
            </a:pPr>
            <a:r>
              <a:rPr lang="it-IT" sz="3200" spc="-35" dirty="0">
                <a:latin typeface="Arial MT"/>
                <a:cs typeface="Arial MT"/>
              </a:rPr>
              <a:t>Interface</a:t>
            </a:r>
          </a:p>
          <a:p>
            <a:pPr marL="12700">
              <a:lnSpc>
                <a:spcPts val="3645"/>
              </a:lnSpc>
              <a:spcBef>
                <a:spcPts val="95"/>
              </a:spcBef>
            </a:pPr>
            <a:r>
              <a:rPr lang="it-IT" sz="3200" spc="-35" dirty="0">
                <a:latin typeface="Arial MT"/>
                <a:cs typeface="Arial MT"/>
              </a:rPr>
              <a:t>Chatbot </a:t>
            </a:r>
            <a:r>
              <a:rPr lang="it-IT" sz="3200" spc="-35" dirty="0" err="1">
                <a:latin typeface="Arial MT"/>
                <a:cs typeface="Arial MT"/>
              </a:rPr>
              <a:t>Llama</a:t>
            </a:r>
            <a:r>
              <a:rPr lang="it-IT" sz="3200" spc="-35" dirty="0">
                <a:latin typeface="Arial MT"/>
                <a:cs typeface="Arial MT"/>
              </a:rPr>
              <a:t> 3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00F668D5-F05C-FFF3-DC13-5DBBBACB7FC0}"/>
              </a:ext>
            </a:extLst>
          </p:cNvPr>
          <p:cNvSpPr txBox="1"/>
          <p:nvPr/>
        </p:nvSpPr>
        <p:spPr>
          <a:xfrm>
            <a:off x="13995472" y="2702219"/>
            <a:ext cx="2584450" cy="888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ts val="3300"/>
              </a:lnSpc>
              <a:spcBef>
                <a:spcPts val="585"/>
              </a:spcBef>
            </a:pPr>
            <a:r>
              <a:rPr lang="it-IT" sz="4000" spc="-10" dirty="0" err="1">
                <a:latin typeface="Calibri"/>
                <a:cs typeface="Calibri"/>
              </a:rPr>
              <a:t>Metrics</a:t>
            </a:r>
            <a:r>
              <a:rPr lang="it-IT" sz="4000" spc="-10" dirty="0">
                <a:latin typeface="Calibri"/>
                <a:cs typeface="Calibri"/>
              </a:rPr>
              <a:t> </a:t>
            </a:r>
            <a:r>
              <a:rPr lang="it-IT" sz="4000" spc="-25" dirty="0">
                <a:latin typeface="Calibri"/>
                <a:cs typeface="Calibri"/>
              </a:rPr>
              <a:t>real-</a:t>
            </a:r>
            <a:r>
              <a:rPr lang="it-IT" sz="4000" spc="-20" dirty="0">
                <a:latin typeface="Calibri"/>
                <a:cs typeface="Calibri"/>
              </a:rPr>
              <a:t>time</a:t>
            </a:r>
            <a:endParaRPr lang="it-IT"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3200" y="5130800"/>
            <a:ext cx="7556500" cy="2578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9150" y="680155"/>
            <a:ext cx="15726150" cy="891526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6510" marR="5080" indent="-4445">
              <a:lnSpc>
                <a:spcPct val="79700"/>
              </a:lnSpc>
              <a:spcBef>
                <a:spcPts val="1480"/>
              </a:spcBef>
            </a:pPr>
            <a:r>
              <a:rPr lang="en-US" sz="5700" dirty="0"/>
              <a:t>Anomaly Detection in Natural Language</a:t>
            </a:r>
            <a:endParaRPr sz="5700" dirty="0"/>
          </a:p>
        </p:txBody>
      </p:sp>
      <p:sp>
        <p:nvSpPr>
          <p:cNvPr id="4" name="object 4"/>
          <p:cNvSpPr txBox="1"/>
          <p:nvPr/>
        </p:nvSpPr>
        <p:spPr>
          <a:xfrm>
            <a:off x="959150" y="2570955"/>
            <a:ext cx="9759650" cy="5137945"/>
          </a:xfrm>
          <a:prstGeom prst="rect">
            <a:avLst/>
          </a:prstGeom>
          <a:ln w="21166">
            <a:solidFill>
              <a:srgbClr val="1F1F1F"/>
            </a:solidFill>
          </a:ln>
        </p:spPr>
        <p:txBody>
          <a:bodyPr vert="horz" wrap="square" lIns="0" tIns="262255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2065"/>
              </a:spcBef>
            </a:pPr>
            <a:r>
              <a:rPr sz="3550" dirty="0">
                <a:latin typeface="Arial MT"/>
                <a:cs typeface="Arial MT"/>
              </a:rPr>
              <a:t>Chat</a:t>
            </a:r>
            <a:r>
              <a:rPr sz="3550" spc="80" dirty="0">
                <a:latin typeface="Arial MT"/>
                <a:cs typeface="Arial MT"/>
              </a:rPr>
              <a:t> </a:t>
            </a:r>
            <a:r>
              <a:rPr sz="3550" spc="200" dirty="0">
                <a:latin typeface="Arial MT"/>
                <a:cs typeface="Arial MT"/>
              </a:rPr>
              <a:t>with</a:t>
            </a:r>
            <a:r>
              <a:rPr sz="3550" spc="-190" dirty="0">
                <a:latin typeface="Arial MT"/>
                <a:cs typeface="Arial MT"/>
              </a:rPr>
              <a:t> </a:t>
            </a:r>
            <a:r>
              <a:rPr sz="3550" spc="50" dirty="0">
                <a:latin typeface="Arial MT"/>
                <a:cs typeface="Arial MT"/>
              </a:rPr>
              <a:t>your</a:t>
            </a:r>
            <a:r>
              <a:rPr sz="3550" spc="-150" dirty="0">
                <a:latin typeface="Arial MT"/>
                <a:cs typeface="Arial MT"/>
              </a:rPr>
              <a:t> </a:t>
            </a:r>
            <a:r>
              <a:rPr sz="3550" spc="-20" dirty="0">
                <a:latin typeface="Arial MT"/>
                <a:cs typeface="Arial MT"/>
              </a:rPr>
              <a:t>Data</a:t>
            </a:r>
            <a:endParaRPr sz="35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3550" dirty="0">
              <a:latin typeface="Arial MT"/>
              <a:cs typeface="Arial MT"/>
            </a:endParaRPr>
          </a:p>
          <a:p>
            <a:pPr marL="4547235">
              <a:lnSpc>
                <a:spcPct val="100000"/>
              </a:lnSpc>
              <a:spcBef>
                <a:spcPts val="5"/>
              </a:spcBef>
            </a:pPr>
            <a:r>
              <a:rPr sz="2700" spc="-25" dirty="0">
                <a:latin typeface="Arial MT"/>
                <a:cs typeface="Arial MT"/>
              </a:rPr>
              <a:t>Dove</a:t>
            </a:r>
            <a:r>
              <a:rPr sz="2700" spc="-14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stiamo</a:t>
            </a:r>
            <a:r>
              <a:rPr sz="2700" spc="-17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perdendo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spc="-10" dirty="0" err="1">
                <a:latin typeface="Arial MT"/>
                <a:cs typeface="Arial MT"/>
              </a:rPr>
              <a:t>clienti</a:t>
            </a:r>
            <a:r>
              <a:rPr sz="2700" spc="-10" dirty="0">
                <a:latin typeface="Arial MT"/>
                <a:cs typeface="Arial MT"/>
              </a:rPr>
              <a:t>?</a:t>
            </a:r>
            <a:endParaRPr lang="it-IT" sz="2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50"/>
              </a:spcBef>
            </a:pPr>
            <a:endParaRPr lang="it-IT" sz="2700" dirty="0">
              <a:latin typeface="Arial MT"/>
              <a:cs typeface="Arial MT"/>
            </a:endParaRPr>
          </a:p>
          <a:p>
            <a:pPr marL="804545" marR="2244090" indent="10160">
              <a:lnSpc>
                <a:spcPts val="3000"/>
              </a:lnSpc>
              <a:spcBef>
                <a:spcPts val="5"/>
              </a:spcBef>
            </a:pPr>
            <a:r>
              <a:rPr lang="en-US" sz="2700" spc="-50" dirty="0">
                <a:latin typeface="Arial MT"/>
                <a:cs typeface="Arial MT"/>
              </a:rPr>
              <a:t>Analysis completed. The Heuristic model shows a significant discrepancy between “Add to Cart” and “Purchase”. The main bottleneck. The main one is in the Checkout. I suggest checking the complexity of the payment form.</a:t>
            </a:r>
            <a:endParaRPr lang="it-IT" sz="2700" dirty="0">
              <a:latin typeface="Arial MT"/>
              <a:cs typeface="Arial MT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F1EEB16-F8D7-82FA-F468-9844080E369B}"/>
              </a:ext>
            </a:extLst>
          </p:cNvPr>
          <p:cNvSpPr txBox="1"/>
          <p:nvPr/>
        </p:nvSpPr>
        <p:spPr>
          <a:xfrm>
            <a:off x="11226800" y="2133600"/>
            <a:ext cx="62484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sz="2800" b="1" dirty="0">
                <a:solidFill>
                  <a:schemeClr val="tx1"/>
                </a:solidFill>
                <a:latin typeface="Arial" panose="020B0604020202020204" pitchFamily="34" charset="0"/>
              </a:rPr>
              <a:t>Chat Management</a:t>
            </a:r>
            <a:endParaRPr kumimoji="0" lang="it-IT" alt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it-IT" altLang="it-IT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interaction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user asks free questions as if talking to a human consultant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Intuitive </a:t>
            </a:r>
            <a:r>
              <a:rPr kumimoji="0" lang="it-IT" altLang="it-IT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Answers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processes complex data and responds in natural language, without technical jargon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Technical Skills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don't need to know coding or process mining to get strategic insights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7289800"/>
            <a:ext cx="15519400" cy="1536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628900"/>
            <a:ext cx="15544800" cy="3441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8904" y="697794"/>
            <a:ext cx="8693095" cy="867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it-IT" sz="5550" spc="160" dirty="0" err="1"/>
              <a:t>Summary</a:t>
            </a:r>
            <a:r>
              <a:rPr lang="it-IT" sz="5550" spc="160" dirty="0"/>
              <a:t> of </a:t>
            </a:r>
            <a:r>
              <a:rPr lang="it-IT" sz="5550" spc="160" dirty="0" err="1"/>
              <a:t>Results</a:t>
            </a:r>
            <a:r>
              <a:rPr lang="it-IT" sz="5550" spc="160" dirty="0"/>
              <a:t>:</a:t>
            </a:r>
            <a:endParaRPr sz="5550" dirty="0"/>
          </a:p>
        </p:txBody>
      </p:sp>
      <p:sp>
        <p:nvSpPr>
          <p:cNvPr id="6" name="object 6"/>
          <p:cNvSpPr txBox="1"/>
          <p:nvPr/>
        </p:nvSpPr>
        <p:spPr>
          <a:xfrm>
            <a:off x="2652285" y="1973438"/>
            <a:ext cx="104902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30" dirty="0">
                <a:latin typeface="Arial MT"/>
                <a:cs typeface="Arial MT"/>
              </a:rPr>
              <a:t>View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529" y="4237213"/>
            <a:ext cx="217106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88060" algn="l"/>
              </a:tabLst>
            </a:pPr>
            <a:r>
              <a:rPr sz="2950" spc="-20" dirty="0">
                <a:latin typeface="Arial MT"/>
                <a:cs typeface="Arial MT"/>
              </a:rPr>
              <a:t>8691</a:t>
            </a:r>
            <a:r>
              <a:rPr sz="2950" dirty="0">
                <a:latin typeface="Arial MT"/>
                <a:cs typeface="Arial MT"/>
              </a:rPr>
              <a:t>	</a:t>
            </a:r>
            <a:r>
              <a:rPr sz="2950" spc="145" dirty="0">
                <a:latin typeface="Arial MT"/>
                <a:cs typeface="Arial MT"/>
              </a:rPr>
              <a:t>Event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9260" y="6239933"/>
            <a:ext cx="3397885" cy="8636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127635">
              <a:lnSpc>
                <a:spcPts val="3100"/>
              </a:lnSpc>
              <a:spcBef>
                <a:spcPts val="535"/>
              </a:spcBef>
            </a:pPr>
            <a:r>
              <a:rPr lang="en-US" sz="2900" spc="-125" dirty="0">
                <a:latin typeface="Arial MT"/>
                <a:cs typeface="Arial MT"/>
              </a:rPr>
              <a:t>Window Shopping Domain (Many Loops)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74998" y="2744258"/>
            <a:ext cx="95440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290" dirty="0">
                <a:latin typeface="Calibri"/>
                <a:cs typeface="Calibri"/>
              </a:rPr>
              <a:t>Cart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0558" y="4219575"/>
            <a:ext cx="197929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86130" algn="l"/>
              </a:tabLst>
            </a:pPr>
            <a:r>
              <a:rPr sz="3100" spc="-25" dirty="0">
                <a:latin typeface="Arial MT"/>
                <a:cs typeface="Arial MT"/>
              </a:rPr>
              <a:t>460</a:t>
            </a:r>
            <a:r>
              <a:rPr sz="3100" dirty="0">
                <a:latin typeface="Arial MT"/>
                <a:cs typeface="Arial MT"/>
              </a:rPr>
              <a:t>	</a:t>
            </a:r>
            <a:r>
              <a:rPr sz="3100" spc="85" dirty="0">
                <a:latin typeface="Arial MT"/>
                <a:cs typeface="Arial MT"/>
              </a:rPr>
              <a:t>Event</a:t>
            </a:r>
            <a:endParaRPr sz="31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45174" y="6266391"/>
            <a:ext cx="3259454" cy="8318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413384">
              <a:lnSpc>
                <a:spcPts val="3100"/>
              </a:lnSpc>
              <a:spcBef>
                <a:spcPts val="325"/>
              </a:spcBef>
            </a:pPr>
            <a:r>
              <a:rPr sz="2700" dirty="0">
                <a:latin typeface="Arial MT"/>
                <a:cs typeface="Arial MT"/>
              </a:rPr>
              <a:t>Drop-off</a:t>
            </a:r>
            <a:r>
              <a:rPr sz="2700" spc="62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Critico </a:t>
            </a:r>
            <a:r>
              <a:rPr sz="2700" spc="-30" dirty="0">
                <a:latin typeface="Arial MT"/>
                <a:cs typeface="Arial MT"/>
              </a:rPr>
              <a:t>(Solo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il</a:t>
            </a:r>
            <a:r>
              <a:rPr sz="2700" spc="110" dirty="0">
                <a:latin typeface="Arial MT"/>
                <a:cs typeface="Arial MT"/>
              </a:rPr>
              <a:t> </a:t>
            </a:r>
            <a:r>
              <a:rPr sz="2700" spc="65" dirty="0">
                <a:latin typeface="Arial MT"/>
                <a:cs typeface="Arial MT"/>
              </a:rPr>
              <a:t>-</a:t>
            </a:r>
            <a:r>
              <a:rPr sz="2700" spc="150" dirty="0">
                <a:latin typeface="Arial MT"/>
                <a:cs typeface="Arial MT"/>
              </a:rPr>
              <a:t>5%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procede)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16190" y="3201458"/>
            <a:ext cx="200152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40" dirty="0">
                <a:latin typeface="Arial MT"/>
                <a:cs typeface="Arial MT"/>
              </a:rPr>
              <a:t>Purchase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7673" y="4275313"/>
            <a:ext cx="198120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98195" algn="l"/>
              </a:tabLst>
            </a:pPr>
            <a:r>
              <a:rPr sz="2950" spc="-25" dirty="0">
                <a:latin typeface="Arial MT"/>
                <a:cs typeface="Arial MT"/>
              </a:rPr>
              <a:t>316</a:t>
            </a:r>
            <a:r>
              <a:rPr sz="2950" dirty="0">
                <a:latin typeface="Arial MT"/>
                <a:cs typeface="Arial MT"/>
              </a:rPr>
              <a:t>	</a:t>
            </a:r>
            <a:r>
              <a:rPr sz="2950" spc="145" dirty="0">
                <a:latin typeface="Arial MT"/>
                <a:cs typeface="Arial MT"/>
              </a:rPr>
              <a:t>Event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9646" y="6239933"/>
            <a:ext cx="3592829" cy="8636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65455" marR="5080" indent="-453390">
              <a:lnSpc>
                <a:spcPts val="3100"/>
              </a:lnSpc>
              <a:spcBef>
                <a:spcPts val="535"/>
              </a:spcBef>
            </a:pPr>
            <a:r>
              <a:rPr sz="2900" spc="-110" dirty="0">
                <a:latin typeface="Arial MT"/>
                <a:cs typeface="Arial MT"/>
              </a:rPr>
              <a:t>Conversion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160" dirty="0">
                <a:latin typeface="Arial MT"/>
                <a:cs typeface="Arial MT"/>
              </a:rPr>
              <a:t>Rate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Solido </a:t>
            </a:r>
            <a:r>
              <a:rPr sz="2900" spc="-210" dirty="0">
                <a:latin typeface="Arial MT"/>
                <a:cs typeface="Arial MT"/>
              </a:rPr>
              <a:t>(68%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dal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carrello)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9009" y="7484180"/>
            <a:ext cx="15013466" cy="11537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730250" marR="5080" indent="-718185">
              <a:lnSpc>
                <a:spcPts val="4300"/>
              </a:lnSpc>
              <a:spcBef>
                <a:spcPts val="480"/>
              </a:spcBef>
              <a:tabLst>
                <a:tab pos="712470" algn="l"/>
              </a:tabLst>
            </a:pPr>
            <a:r>
              <a:rPr lang="en-US" sz="3800" dirty="0">
                <a:latin typeface="Arial MT"/>
                <a:cs typeface="Arial MT"/>
              </a:rPr>
              <a:t>The problem is not closing the sale, but convincing the user to select the product.</a:t>
            </a:r>
            <a:endParaRPr sz="3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6311900"/>
            <a:ext cx="571500" cy="698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4919" y="6365285"/>
            <a:ext cx="635000" cy="60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5200" y="5511800"/>
            <a:ext cx="444500" cy="22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5200" y="3898900"/>
            <a:ext cx="647700" cy="647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54919" y="3981660"/>
            <a:ext cx="635000" cy="6477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0664" y="362136"/>
            <a:ext cx="14647544" cy="1231987"/>
          </a:xfrm>
          <a:prstGeom prst="rect">
            <a:avLst/>
          </a:prstGeom>
        </p:spPr>
        <p:txBody>
          <a:bodyPr vert="horz" wrap="square" lIns="0" tIns="298052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90"/>
              </a:spcBef>
            </a:pPr>
            <a:r>
              <a:rPr lang="en-US" sz="6050" spc="100" dirty="0"/>
              <a:t>Conclusions: Towards a Predictive CRO</a:t>
            </a:r>
            <a:endParaRPr sz="6050" dirty="0"/>
          </a:p>
        </p:txBody>
      </p:sp>
      <p:sp>
        <p:nvSpPr>
          <p:cNvPr id="8" name="object 8"/>
          <p:cNvSpPr txBox="1"/>
          <p:nvPr/>
        </p:nvSpPr>
        <p:spPr>
          <a:xfrm>
            <a:off x="978806" y="2424288"/>
            <a:ext cx="14358619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523605" algn="l"/>
              </a:tabLst>
            </a:pPr>
            <a:r>
              <a:rPr lang="it-IT" sz="4850" spc="185" dirty="0" err="1">
                <a:solidFill>
                  <a:srgbClr val="6E6E6E"/>
                </a:solidFill>
                <a:latin typeface="Arial MT"/>
                <a:cs typeface="Arial MT"/>
              </a:rPr>
              <a:t>Traditional</a:t>
            </a:r>
            <a:r>
              <a:rPr lang="it-IT" sz="4850" spc="185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lang="it-IT" sz="4850" spc="185" dirty="0" err="1">
                <a:solidFill>
                  <a:srgbClr val="6E6E6E"/>
                </a:solidFill>
                <a:latin typeface="Arial MT"/>
                <a:cs typeface="Arial MT"/>
              </a:rPr>
              <a:t>Approach</a:t>
            </a:r>
            <a:r>
              <a:rPr lang="it-IT" sz="4850" spc="185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4850" dirty="0">
                <a:solidFill>
                  <a:srgbClr val="6B6B6B"/>
                </a:solidFill>
                <a:latin typeface="Arial MT"/>
                <a:cs typeface="Arial MT"/>
              </a:rPr>
              <a:t>	</a:t>
            </a:r>
            <a:r>
              <a:rPr sz="4850" spc="125" dirty="0">
                <a:solidFill>
                  <a:srgbClr val="0550CD"/>
                </a:solidFill>
                <a:latin typeface="Arial MT"/>
                <a:cs typeface="Arial MT"/>
              </a:rPr>
              <a:t>Process</a:t>
            </a:r>
            <a:r>
              <a:rPr sz="4850" spc="-70" dirty="0">
                <a:solidFill>
                  <a:srgbClr val="0550CD"/>
                </a:solidFill>
                <a:latin typeface="Arial MT"/>
                <a:cs typeface="Arial MT"/>
              </a:rPr>
              <a:t> </a:t>
            </a:r>
            <a:r>
              <a:rPr sz="4850" spc="229" dirty="0">
                <a:solidFill>
                  <a:srgbClr val="0150D1"/>
                </a:solidFill>
                <a:latin typeface="Arial MT"/>
                <a:cs typeface="Arial MT"/>
              </a:rPr>
              <a:t>Mining</a:t>
            </a:r>
            <a:r>
              <a:rPr sz="4850" spc="-100" dirty="0">
                <a:solidFill>
                  <a:srgbClr val="0150D1"/>
                </a:solidFill>
                <a:latin typeface="Arial MT"/>
                <a:cs typeface="Arial MT"/>
              </a:rPr>
              <a:t> </a:t>
            </a:r>
            <a:r>
              <a:rPr sz="4850" spc="195" dirty="0">
                <a:solidFill>
                  <a:srgbClr val="0849C4"/>
                </a:solidFill>
                <a:latin typeface="Arial MT"/>
                <a:cs typeface="Arial MT"/>
              </a:rPr>
              <a:t>+</a:t>
            </a:r>
            <a:r>
              <a:rPr sz="4850" spc="-100" dirty="0">
                <a:solidFill>
                  <a:srgbClr val="0849C4"/>
                </a:solidFill>
                <a:latin typeface="Arial MT"/>
                <a:cs typeface="Arial MT"/>
              </a:rPr>
              <a:t> </a:t>
            </a:r>
            <a:r>
              <a:rPr sz="4850" spc="105" dirty="0">
                <a:solidFill>
                  <a:srgbClr val="004BD3"/>
                </a:solidFill>
                <a:latin typeface="Arial MT"/>
                <a:cs typeface="Arial MT"/>
              </a:rPr>
              <a:t>AI</a:t>
            </a:r>
            <a:endParaRPr sz="48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3300" y="3504730"/>
            <a:ext cx="6571615" cy="3668953"/>
          </a:xfrm>
          <a:prstGeom prst="rect">
            <a:avLst/>
          </a:prstGeom>
        </p:spPr>
        <p:txBody>
          <a:bodyPr vert="horz" wrap="square" lIns="0" tIns="295910" rIns="0" bIns="0" rtlCol="0">
            <a:spAutoFit/>
          </a:bodyPr>
          <a:lstStyle/>
          <a:p>
            <a:pPr marL="727075">
              <a:lnSpc>
                <a:spcPct val="100000"/>
              </a:lnSpc>
              <a:spcBef>
                <a:spcPts val="2330"/>
              </a:spcBef>
            </a:pPr>
            <a:r>
              <a:rPr lang="it-IT" sz="3950" spc="-80" dirty="0" err="1">
                <a:latin typeface="Arial MT"/>
                <a:cs typeface="Arial MT"/>
              </a:rPr>
              <a:t>Reactive</a:t>
            </a:r>
            <a:r>
              <a:rPr lang="it-IT" sz="3950" spc="-80" dirty="0">
                <a:latin typeface="Arial MT"/>
                <a:cs typeface="Arial MT"/>
              </a:rPr>
              <a:t> Analysis</a:t>
            </a:r>
            <a:br>
              <a:rPr lang="it-IT" sz="3950" spc="-10" dirty="0">
                <a:latin typeface="Arial MT"/>
                <a:cs typeface="Arial MT"/>
              </a:rPr>
            </a:br>
            <a:endParaRPr sz="3950" dirty="0">
              <a:latin typeface="Arial MT"/>
              <a:cs typeface="Arial MT"/>
            </a:endParaRPr>
          </a:p>
          <a:p>
            <a:pPr marL="12700">
              <a:lnSpc>
                <a:spcPts val="4765"/>
              </a:lnSpc>
              <a:spcBef>
                <a:spcPts val="2360"/>
              </a:spcBef>
              <a:tabLst>
                <a:tab pos="717550" algn="l"/>
              </a:tabLst>
            </a:pPr>
            <a:r>
              <a:rPr sz="4150" spc="-25" dirty="0">
                <a:solidFill>
                  <a:srgbClr val="838383"/>
                </a:solidFill>
                <a:latin typeface="Arial MT"/>
                <a:cs typeface="Arial MT"/>
              </a:rPr>
              <a:t>• </a:t>
            </a:r>
            <a:r>
              <a:rPr lang="it-IT" sz="4150" spc="-25" dirty="0">
                <a:solidFill>
                  <a:srgbClr val="838383"/>
                </a:solidFill>
                <a:latin typeface="Arial MT"/>
                <a:cs typeface="Arial MT"/>
              </a:rPr>
              <a:t>  </a:t>
            </a:r>
            <a:r>
              <a:rPr sz="4150" spc="-210" dirty="0">
                <a:latin typeface="Arial MT"/>
                <a:cs typeface="Arial MT"/>
              </a:rPr>
              <a:t>“</a:t>
            </a:r>
            <a:r>
              <a:rPr lang="it-IT" sz="4150" spc="-210" dirty="0" err="1">
                <a:latin typeface="Arial MT"/>
                <a:cs typeface="Arial MT"/>
              </a:rPr>
              <a:t>We</a:t>
            </a:r>
            <a:r>
              <a:rPr lang="it-IT" sz="4150" spc="-210" dirty="0">
                <a:latin typeface="Arial MT"/>
                <a:cs typeface="Arial MT"/>
              </a:rPr>
              <a:t> </a:t>
            </a:r>
            <a:r>
              <a:rPr lang="it-IT" sz="4150" spc="-210" dirty="0" err="1">
                <a:latin typeface="Arial MT"/>
                <a:cs typeface="Arial MT"/>
              </a:rPr>
              <a:t>lost</a:t>
            </a:r>
            <a:r>
              <a:rPr lang="it-IT" sz="4150" spc="-210" dirty="0">
                <a:latin typeface="Arial MT"/>
                <a:cs typeface="Arial MT"/>
              </a:rPr>
              <a:t> a customer</a:t>
            </a:r>
            <a:r>
              <a:rPr sz="4150" spc="-85" dirty="0">
                <a:latin typeface="Arial MT"/>
                <a:cs typeface="Arial MT"/>
              </a:rPr>
              <a:t>"</a:t>
            </a:r>
            <a:br>
              <a:rPr lang="it-IT" sz="4150" spc="-85" dirty="0">
                <a:latin typeface="Arial MT"/>
                <a:cs typeface="Arial MT"/>
              </a:rPr>
            </a:br>
            <a:r>
              <a:rPr lang="it-IT" sz="4150" spc="-85" dirty="0">
                <a:latin typeface="Arial MT"/>
                <a:cs typeface="Arial MT"/>
              </a:rPr>
              <a:t> </a:t>
            </a:r>
            <a:br>
              <a:rPr lang="it-IT" sz="4150" dirty="0">
                <a:latin typeface="Arial MT"/>
                <a:cs typeface="Arial MT"/>
              </a:rPr>
            </a:br>
            <a:r>
              <a:rPr lang="it-IT" sz="4150" dirty="0">
                <a:latin typeface="Arial MT"/>
                <a:cs typeface="Arial MT"/>
              </a:rPr>
              <a:t>     </a:t>
            </a:r>
            <a:r>
              <a:rPr lang="it-IT" sz="4150" dirty="0" err="1">
                <a:latin typeface="Arial MT"/>
                <a:cs typeface="Arial MT"/>
              </a:rPr>
              <a:t>Static</a:t>
            </a:r>
            <a:r>
              <a:rPr lang="it-IT" sz="4150" dirty="0">
                <a:latin typeface="Arial MT"/>
                <a:cs typeface="Arial MT"/>
              </a:rPr>
              <a:t> Reports</a:t>
            </a:r>
            <a:endParaRPr sz="395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8255" y="3646343"/>
            <a:ext cx="6931025" cy="3420167"/>
          </a:xfrm>
          <a:prstGeom prst="rect">
            <a:avLst/>
          </a:prstGeom>
        </p:spPr>
        <p:txBody>
          <a:bodyPr vert="horz" wrap="square" lIns="0" tIns="295910" rIns="0" bIns="0" rtlCol="0">
            <a:spAutoFit/>
          </a:bodyPr>
          <a:lstStyle/>
          <a:p>
            <a:pPr marL="643255">
              <a:lnSpc>
                <a:spcPct val="100000"/>
              </a:lnSpc>
              <a:spcBef>
                <a:spcPts val="2330"/>
              </a:spcBef>
            </a:pPr>
            <a:r>
              <a:rPr lang="it-IT" sz="3950" spc="-65" dirty="0" err="1">
                <a:latin typeface="Arial MT"/>
                <a:cs typeface="Arial MT"/>
              </a:rPr>
              <a:t>Proactive</a:t>
            </a:r>
            <a:r>
              <a:rPr lang="it-IT" sz="3950" spc="-65" dirty="0">
                <a:latin typeface="Arial MT"/>
                <a:cs typeface="Arial MT"/>
              </a:rPr>
              <a:t> Management</a:t>
            </a:r>
          </a:p>
          <a:p>
            <a:pPr marL="643255">
              <a:lnSpc>
                <a:spcPct val="100000"/>
              </a:lnSpc>
              <a:spcBef>
                <a:spcPts val="2330"/>
              </a:spcBef>
            </a:pPr>
            <a:r>
              <a:rPr sz="4150" spc="-40" dirty="0">
                <a:latin typeface="Arial MT"/>
                <a:cs typeface="Arial MT"/>
              </a:rPr>
              <a:t>”</a:t>
            </a:r>
            <a:r>
              <a:rPr lang="en-US" sz="4150" spc="-40" dirty="0">
                <a:latin typeface="Arial MT"/>
                <a:cs typeface="Arial MT"/>
              </a:rPr>
              <a:t> The customer stands for abandon, let's act</a:t>
            </a:r>
            <a:r>
              <a:rPr sz="4100" spc="-10" dirty="0">
                <a:latin typeface="Arial MT"/>
                <a:cs typeface="Arial MT"/>
              </a:rPr>
              <a:t>”</a:t>
            </a:r>
            <a:endParaRPr sz="4100" dirty="0">
              <a:latin typeface="Arial MT"/>
              <a:cs typeface="Arial MT"/>
            </a:endParaRPr>
          </a:p>
          <a:p>
            <a:pPr marL="635635">
              <a:lnSpc>
                <a:spcPct val="100000"/>
              </a:lnSpc>
              <a:spcBef>
                <a:spcPts val="2580"/>
              </a:spcBef>
            </a:pPr>
            <a:r>
              <a:rPr lang="it-IT" sz="3950" spc="-10" dirty="0" err="1">
                <a:latin typeface="Arial MT"/>
                <a:cs typeface="Arial MT"/>
              </a:rPr>
              <a:t>Conversational</a:t>
            </a:r>
            <a:r>
              <a:rPr lang="it-IT" sz="3950" spc="-10" dirty="0">
                <a:latin typeface="Arial MT"/>
                <a:cs typeface="Arial MT"/>
              </a:rPr>
              <a:t> Intelligence</a:t>
            </a:r>
            <a:endParaRPr sz="395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8365" y="7715782"/>
            <a:ext cx="12252142" cy="1402948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378075" marR="5080" indent="-2366010" algn="ctr">
              <a:lnSpc>
                <a:spcPts val="5100"/>
              </a:lnSpc>
              <a:spcBef>
                <a:spcPts val="740"/>
              </a:spcBef>
            </a:pPr>
            <a:r>
              <a:rPr lang="en-US" sz="4700" dirty="0">
                <a:solidFill>
                  <a:srgbClr val="034BB3"/>
                </a:solidFill>
                <a:latin typeface="Arial MT"/>
                <a:cs typeface="Arial MT"/>
              </a:rPr>
              <a:t>Logs are not garbage, they are the unheard voice of the customer.</a:t>
            </a:r>
            <a:endParaRPr lang="it-IT" sz="4700" dirty="0">
              <a:latin typeface="Arial MT"/>
              <a:cs typeface="Arial MT"/>
            </a:endParaRPr>
          </a:p>
        </p:txBody>
      </p:sp>
      <p:sp>
        <p:nvSpPr>
          <p:cNvPr id="12" name="Freccia in giù 11">
            <a:extLst>
              <a:ext uri="{FF2B5EF4-FFF2-40B4-BE49-F238E27FC236}">
                <a16:creationId xmlns:a16="http://schemas.microsoft.com/office/drawing/2014/main" id="{38261764-6AFC-78AF-CC39-A3F4039C744C}"/>
              </a:ext>
            </a:extLst>
          </p:cNvPr>
          <p:cNvSpPr/>
          <p:nvPr/>
        </p:nvSpPr>
        <p:spPr>
          <a:xfrm>
            <a:off x="9365854" y="5076930"/>
            <a:ext cx="477619" cy="787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" y="7366000"/>
            <a:ext cx="1397000" cy="1295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600" y="7289800"/>
            <a:ext cx="1460500" cy="144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" y="4927600"/>
            <a:ext cx="1358900" cy="1346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91600" y="4953000"/>
            <a:ext cx="1346200" cy="1308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2527300"/>
            <a:ext cx="1333500" cy="1333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100" y="2514600"/>
            <a:ext cx="1397000" cy="13462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0664" y="362136"/>
            <a:ext cx="14647544" cy="1243741"/>
          </a:xfrm>
          <a:prstGeom prst="rect">
            <a:avLst/>
          </a:prstGeom>
        </p:spPr>
        <p:txBody>
          <a:bodyPr vert="horz" wrap="square" lIns="0" tIns="279213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lang="it-IT" spc="50" dirty="0" err="1"/>
              <a:t>Appendix</a:t>
            </a:r>
            <a:r>
              <a:rPr lang="it-IT" spc="50" dirty="0"/>
              <a:t>: Technology </a:t>
            </a:r>
            <a:r>
              <a:rPr lang="it-IT" spc="50" dirty="0" err="1"/>
              <a:t>Stack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2845431" y="2313414"/>
            <a:ext cx="3862070" cy="129458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it-IT" sz="4000" dirty="0">
                <a:latin typeface="Arial MT"/>
                <a:cs typeface="Arial MT"/>
              </a:rPr>
              <a:t>Core </a:t>
            </a:r>
            <a:r>
              <a:rPr lang="it-IT" sz="4000" dirty="0" err="1">
                <a:latin typeface="Arial MT"/>
                <a:cs typeface="Arial MT"/>
              </a:rPr>
              <a:t>language</a:t>
            </a:r>
            <a:r>
              <a:rPr lang="it-IT" sz="4000" dirty="0">
                <a:latin typeface="Arial MT"/>
                <a:cs typeface="Arial MT"/>
              </a:rPr>
              <a:t> </a:t>
            </a:r>
            <a:r>
              <a:rPr sz="3800" dirty="0">
                <a:latin typeface="Arial MT"/>
                <a:cs typeface="Arial MT"/>
              </a:rPr>
              <a:t>Python</a:t>
            </a:r>
            <a:r>
              <a:rPr sz="3800" spc="-40" dirty="0">
                <a:latin typeface="Arial MT"/>
                <a:cs typeface="Arial MT"/>
              </a:rPr>
              <a:t> </a:t>
            </a:r>
            <a:r>
              <a:rPr sz="3800" spc="-10" dirty="0">
                <a:latin typeface="Arial MT"/>
                <a:cs typeface="Arial MT"/>
              </a:rPr>
              <a:t>3.10+</a:t>
            </a:r>
            <a:endParaRPr sz="38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0029" y="4759325"/>
            <a:ext cx="4244975" cy="1331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50" spc="-220" dirty="0">
                <a:latin typeface="Arial MT"/>
                <a:cs typeface="Arial MT"/>
              </a:rPr>
              <a:t>Data</a:t>
            </a:r>
            <a:r>
              <a:rPr sz="4350" spc="-170" dirty="0">
                <a:latin typeface="Arial MT"/>
                <a:cs typeface="Arial MT"/>
              </a:rPr>
              <a:t> </a:t>
            </a:r>
            <a:r>
              <a:rPr sz="4350" spc="-75" dirty="0">
                <a:latin typeface="Arial MT"/>
                <a:cs typeface="Arial MT"/>
              </a:rPr>
              <a:t>Manipulation</a:t>
            </a:r>
            <a:endParaRPr sz="43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229"/>
              </a:spcBef>
            </a:pPr>
            <a:r>
              <a:rPr sz="4000" spc="-305" dirty="0">
                <a:latin typeface="Arial MT"/>
                <a:cs typeface="Arial MT"/>
              </a:rPr>
              <a:t>Pandas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2977" y="7128536"/>
            <a:ext cx="3227070" cy="18307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" indent="-13335">
              <a:lnSpc>
                <a:spcPct val="100000"/>
              </a:lnSpc>
              <a:spcBef>
                <a:spcPts val="470"/>
              </a:spcBef>
            </a:pPr>
            <a:r>
              <a:rPr sz="4000" dirty="0">
                <a:latin typeface="Arial MT"/>
                <a:cs typeface="Arial MT"/>
              </a:rPr>
              <a:t>Generative</a:t>
            </a:r>
            <a:r>
              <a:rPr sz="4000" spc="459" dirty="0">
                <a:latin typeface="Arial MT"/>
                <a:cs typeface="Arial MT"/>
              </a:rPr>
              <a:t> </a:t>
            </a:r>
            <a:r>
              <a:rPr sz="4000" spc="-25" dirty="0">
                <a:latin typeface="Arial MT"/>
                <a:cs typeface="Arial MT"/>
              </a:rPr>
              <a:t>AI</a:t>
            </a:r>
            <a:endParaRPr sz="4000" dirty="0">
              <a:latin typeface="Arial MT"/>
              <a:cs typeface="Arial MT"/>
            </a:endParaRPr>
          </a:p>
          <a:p>
            <a:pPr marL="34290" marR="5080" indent="-9525">
              <a:lnSpc>
                <a:spcPts val="3950"/>
              </a:lnSpc>
              <a:spcBef>
                <a:spcPts val="1140"/>
              </a:spcBef>
            </a:pPr>
            <a:r>
              <a:rPr sz="3950" spc="-270" dirty="0">
                <a:latin typeface="Arial MT"/>
                <a:cs typeface="Arial MT"/>
              </a:rPr>
              <a:t>Groq</a:t>
            </a:r>
            <a:r>
              <a:rPr sz="3950" spc="-30" dirty="0">
                <a:latin typeface="Arial MT"/>
                <a:cs typeface="Arial MT"/>
              </a:rPr>
              <a:t> </a:t>
            </a:r>
            <a:r>
              <a:rPr sz="3950" spc="-145" dirty="0">
                <a:latin typeface="Arial MT"/>
                <a:cs typeface="Arial MT"/>
              </a:rPr>
              <a:t>Cloud</a:t>
            </a:r>
            <a:r>
              <a:rPr sz="3950" spc="-120" dirty="0">
                <a:latin typeface="Arial MT"/>
                <a:cs typeface="Arial MT"/>
              </a:rPr>
              <a:t> </a:t>
            </a:r>
            <a:r>
              <a:rPr sz="3950" spc="-370" dirty="0">
                <a:latin typeface="Arial MT"/>
                <a:cs typeface="Arial MT"/>
              </a:rPr>
              <a:t>API </a:t>
            </a:r>
            <a:r>
              <a:rPr sz="3950" spc="-265" dirty="0">
                <a:latin typeface="Arial MT"/>
                <a:cs typeface="Arial MT"/>
              </a:rPr>
              <a:t>(</a:t>
            </a:r>
            <a:r>
              <a:rPr sz="3950" spc="-265">
                <a:latin typeface="Arial MT"/>
                <a:cs typeface="Arial MT"/>
              </a:rPr>
              <a:t>Llama</a:t>
            </a:r>
            <a:r>
              <a:rPr sz="3950" spc="90">
                <a:latin typeface="Arial MT"/>
                <a:cs typeface="Arial MT"/>
              </a:rPr>
              <a:t> </a:t>
            </a:r>
            <a:r>
              <a:rPr sz="3950" spc="-130">
                <a:latin typeface="Arial MT"/>
                <a:cs typeface="Arial MT"/>
              </a:rPr>
              <a:t>3.3</a:t>
            </a:r>
            <a:r>
              <a:rPr sz="3950" spc="-320">
                <a:latin typeface="Arial MT"/>
                <a:cs typeface="Arial MT"/>
              </a:rPr>
              <a:t>)</a:t>
            </a:r>
            <a:endParaRPr sz="39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05580" y="2329196"/>
            <a:ext cx="5610860" cy="185673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4100" spc="95" dirty="0">
                <a:latin typeface="Arial MT"/>
                <a:cs typeface="Arial MT"/>
              </a:rPr>
              <a:t>Mining</a:t>
            </a:r>
            <a:r>
              <a:rPr sz="4100" spc="-325" dirty="0">
                <a:latin typeface="Arial MT"/>
                <a:cs typeface="Arial MT"/>
              </a:rPr>
              <a:t> </a:t>
            </a:r>
            <a:r>
              <a:rPr sz="4100" spc="-10" dirty="0">
                <a:latin typeface="Arial MT"/>
                <a:cs typeface="Arial MT"/>
              </a:rPr>
              <a:t>Engine</a:t>
            </a:r>
            <a:endParaRPr sz="4100">
              <a:latin typeface="Arial MT"/>
              <a:cs typeface="Arial MT"/>
            </a:endParaRPr>
          </a:p>
          <a:p>
            <a:pPr marL="25400">
              <a:lnSpc>
                <a:spcPts val="4235"/>
              </a:lnSpc>
              <a:spcBef>
                <a:spcPts val="430"/>
              </a:spcBef>
            </a:pPr>
            <a:r>
              <a:rPr sz="3850" spc="-320" dirty="0">
                <a:latin typeface="Arial MT"/>
                <a:cs typeface="Arial MT"/>
              </a:rPr>
              <a:t>PM4PY</a:t>
            </a:r>
            <a:r>
              <a:rPr sz="3850" spc="50" dirty="0">
                <a:latin typeface="Arial MT"/>
                <a:cs typeface="Arial MT"/>
              </a:rPr>
              <a:t> </a:t>
            </a:r>
            <a:r>
              <a:rPr sz="3850" spc="-175" dirty="0">
                <a:latin typeface="Arial MT"/>
                <a:cs typeface="Arial MT"/>
              </a:rPr>
              <a:t>(Process</a:t>
            </a:r>
            <a:r>
              <a:rPr sz="3850" spc="-65" dirty="0">
                <a:latin typeface="Arial MT"/>
                <a:cs typeface="Arial MT"/>
              </a:rPr>
              <a:t> </a:t>
            </a:r>
            <a:r>
              <a:rPr sz="3850" spc="-85" dirty="0">
                <a:latin typeface="Arial MT"/>
                <a:cs typeface="Arial MT"/>
              </a:rPr>
              <a:t>Mining</a:t>
            </a:r>
            <a:r>
              <a:rPr sz="3850" spc="10" dirty="0">
                <a:latin typeface="Arial MT"/>
                <a:cs typeface="Arial MT"/>
              </a:rPr>
              <a:t> </a:t>
            </a:r>
            <a:r>
              <a:rPr sz="3850" spc="-25" dirty="0">
                <a:latin typeface="Arial MT"/>
                <a:cs typeface="Arial MT"/>
              </a:rPr>
              <a:t>for</a:t>
            </a:r>
            <a:endParaRPr sz="3850">
              <a:latin typeface="Arial MT"/>
              <a:cs typeface="Arial MT"/>
            </a:endParaRPr>
          </a:p>
          <a:p>
            <a:pPr marL="24130">
              <a:lnSpc>
                <a:spcPts val="4415"/>
              </a:lnSpc>
            </a:pPr>
            <a:r>
              <a:rPr sz="4000" spc="-100" dirty="0">
                <a:latin typeface="Arial MT"/>
                <a:cs typeface="Arial MT"/>
              </a:rPr>
              <a:t>Python)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04051" y="4720983"/>
            <a:ext cx="4411345" cy="13627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1360170" algn="l"/>
              </a:tabLst>
            </a:pPr>
            <a:r>
              <a:rPr sz="4100" spc="-20" dirty="0">
                <a:latin typeface="Arial MT"/>
                <a:cs typeface="Arial MT"/>
              </a:rPr>
              <a:t>Data</a:t>
            </a:r>
            <a:r>
              <a:rPr sz="4100" dirty="0">
                <a:latin typeface="Arial MT"/>
                <a:cs typeface="Arial MT"/>
              </a:rPr>
              <a:t>	</a:t>
            </a:r>
            <a:r>
              <a:rPr sz="4100" spc="40" dirty="0">
                <a:latin typeface="Arial MT"/>
                <a:cs typeface="Arial MT"/>
              </a:rPr>
              <a:t>Manipulation</a:t>
            </a:r>
            <a:endParaRPr sz="4100">
              <a:latin typeface="Arial MT"/>
              <a:cs typeface="Arial MT"/>
            </a:endParaRPr>
          </a:p>
          <a:p>
            <a:pPr marL="28575">
              <a:lnSpc>
                <a:spcPct val="100000"/>
              </a:lnSpc>
              <a:spcBef>
                <a:spcPts val="530"/>
              </a:spcBef>
            </a:pPr>
            <a:r>
              <a:rPr sz="3750" spc="-20" dirty="0">
                <a:latin typeface="Arial MT"/>
                <a:cs typeface="Arial MT"/>
              </a:rPr>
              <a:t>Pandas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48861" y="7097938"/>
            <a:ext cx="4198620" cy="13595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4300" spc="110" dirty="0">
                <a:latin typeface="Calibri"/>
                <a:cs typeface="Calibri"/>
              </a:rPr>
              <a:t>Visualization</a:t>
            </a:r>
            <a:r>
              <a:rPr sz="4300" spc="235" dirty="0">
                <a:latin typeface="Calibri"/>
                <a:cs typeface="Calibri"/>
              </a:rPr>
              <a:t> </a:t>
            </a:r>
            <a:r>
              <a:rPr sz="4300" spc="-235" dirty="0">
                <a:latin typeface="Calibri"/>
                <a:cs typeface="Calibri"/>
              </a:rPr>
              <a:t>&amp;</a:t>
            </a:r>
            <a:r>
              <a:rPr sz="4300" spc="-315" dirty="0">
                <a:latin typeface="Calibri"/>
                <a:cs typeface="Calibri"/>
              </a:rPr>
              <a:t> </a:t>
            </a:r>
            <a:r>
              <a:rPr sz="4300" spc="25" dirty="0">
                <a:latin typeface="Calibri"/>
                <a:cs typeface="Calibri"/>
              </a:rPr>
              <a:t>UI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3950" dirty="0">
                <a:latin typeface="Calibri"/>
                <a:cs typeface="Calibri"/>
              </a:rPr>
              <a:t>Graphviz</a:t>
            </a:r>
            <a:r>
              <a:rPr sz="3950" spc="185" dirty="0">
                <a:latin typeface="Calibri"/>
                <a:cs typeface="Calibri"/>
              </a:rPr>
              <a:t> </a:t>
            </a:r>
            <a:r>
              <a:rPr sz="3950" spc="-434" dirty="0">
                <a:latin typeface="Calibri"/>
                <a:cs typeface="Calibri"/>
              </a:rPr>
              <a:t>&amp;</a:t>
            </a:r>
            <a:r>
              <a:rPr sz="3950" spc="165" dirty="0">
                <a:latin typeface="Calibri"/>
                <a:cs typeface="Calibri"/>
              </a:rPr>
              <a:t> </a:t>
            </a:r>
            <a:r>
              <a:rPr sz="3950" spc="-35" dirty="0">
                <a:latin typeface="Calibri"/>
                <a:cs typeface="Calibri"/>
              </a:rPr>
              <a:t>Streamlit</a:t>
            </a:r>
            <a:endParaRPr sz="3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991</Words>
  <Application>Microsoft Office PowerPoint</Application>
  <PresentationFormat>Personalizzato</PresentationFormat>
  <Paragraphs>174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Calibri</vt:lpstr>
      <vt:lpstr>Consolas</vt:lpstr>
      <vt:lpstr>Times New Roman</vt:lpstr>
      <vt:lpstr>Office Theme</vt:lpstr>
      <vt:lpstr>PROCESS MINING &amp; AI REVOLUTIONIZE E-COMMERCE ANALYTICS</vt:lpstr>
      <vt:lpstr>THE CONTEXT: THE OPACITY OF BIG DATA</vt:lpstr>
      <vt:lpstr>The System Architecture: From Logs to Dashboard</vt:lpstr>
      <vt:lpstr>Struttura del Dataset</vt:lpstr>
      <vt:lpstr>Discovery Algorithm 1: Alpha Miner</vt:lpstr>
      <vt:lpstr>Discovery Algoritmo 2: Heuristic Miner </vt:lpstr>
      <vt:lpstr>Discovery Algoritmo 3: Inductive Miner</vt:lpstr>
      <vt:lpstr>Presentazione standard di PowerPoint</vt:lpstr>
      <vt:lpstr>The Virtual Analyst: GenAI Integration (Llama 3) Beyond visualization, towards reasoning.</vt:lpstr>
      <vt:lpstr>Predictive Intelligence: Anticipating the Next Move</vt:lpstr>
      <vt:lpstr>The Streamlit Dashboard: Interactive Control Room</vt:lpstr>
      <vt:lpstr>Anomaly Detection in Natural Language</vt:lpstr>
      <vt:lpstr>Summary of Results:</vt:lpstr>
      <vt:lpstr>Conclusions: Towards a Predictive CRO</vt:lpstr>
      <vt:lpstr>Appendix: Technology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Francesco Caterina</dc:creator>
  <cp:lastModifiedBy>CATERINA FRANCESCO</cp:lastModifiedBy>
  <cp:revision>9</cp:revision>
  <dcterms:created xsi:type="dcterms:W3CDTF">2026-01-18T14:57:14Z</dcterms:created>
  <dcterms:modified xsi:type="dcterms:W3CDTF">2026-01-20T16:29:07Z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2026-01-18T00:00:00Z</vt:filetime>
  </property>
  <property fmtid="{D5CDD505-2E9C-101B-9397-08002B2CF9AE}" pid="3" name="LastSaved">
    <vt:filetime>2026-01-18T00:00:00Z</vt:filetime>
  </property>
</Properties>
</file>